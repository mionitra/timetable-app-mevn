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3"/>
  </p:notesMasterIdLst>
  <p:handoutMasterIdLst>
    <p:handoutMasterId r:id="rId24"/>
  </p:handoutMasterIdLst>
  <p:sldIdLst>
    <p:sldId id="410" r:id="rId5"/>
    <p:sldId id="431" r:id="rId6"/>
    <p:sldId id="426" r:id="rId7"/>
    <p:sldId id="432" r:id="rId8"/>
    <p:sldId id="433" r:id="rId9"/>
    <p:sldId id="452" r:id="rId10"/>
    <p:sldId id="453" r:id="rId11"/>
    <p:sldId id="454" r:id="rId12"/>
    <p:sldId id="455" r:id="rId13"/>
    <p:sldId id="456" r:id="rId14"/>
    <p:sldId id="459" r:id="rId15"/>
    <p:sldId id="457" r:id="rId16"/>
    <p:sldId id="458" r:id="rId17"/>
    <p:sldId id="460" r:id="rId18"/>
    <p:sldId id="461" r:id="rId19"/>
    <p:sldId id="462" r:id="rId20"/>
    <p:sldId id="463" r:id="rId21"/>
    <p:sldId id="464" r:id="rId22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eu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747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36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E7829D4B-412A-499A-8D4F-B904ADB5D0BE}" type="datetime1">
              <a:rPr lang="fr-FR" smtClean="0"/>
              <a:t>30/07/2026</a:t>
            </a:fld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E2C230DF-5933-439D-898F-38E9AC9BA688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8" name="Espace réservé de l’en-tête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CCE360E1-1F2F-4ECC-8A8D-37670FD54F5F}" type="datetime1">
              <a:rPr lang="fr-FR" smtClean="0"/>
              <a:t>30/07/2026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A89C7E07-3C67-C64C-8DA0-0404F630397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Forme automatiqu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2" name="Titr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 spc="50" baseline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fr-FR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3" name="Espace réservé du numéro de diapositive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42" name="Espace réservé de la date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sec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’imag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fr-F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6" name="Espace réservé d’image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 dirty="0"/>
              <a:t>Cliquez sur l’icône pour ajouter une image</a:t>
            </a:r>
          </a:p>
        </p:txBody>
      </p: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e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e libre 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32" name="Titr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9436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Forme automatiqu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8" name="Forme lib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9" name="Forme libre 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fr-FR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fr-FR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fr-FR" sz="2000"/>
            </a:lvl3pPr>
            <a:lvl4pPr marL="1371600" indent="0">
              <a:spcBef>
                <a:spcPts val="1800"/>
              </a:spcBef>
              <a:buFont typeface="+mj-lt"/>
              <a:buNone/>
              <a:defRPr lang="fr-FR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endParaRPr lang="fr-FR" dirty="0"/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tablea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e lib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7" name="Forme libre 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457200" indent="0">
              <a:spcBef>
                <a:spcPts val="1800"/>
              </a:spcBef>
              <a:buNone/>
              <a:defRPr lang="fr-FR" sz="2000"/>
            </a:lvl2pPr>
            <a:lvl3pPr marL="914400" indent="0">
              <a:spcBef>
                <a:spcPts val="1800"/>
              </a:spcBef>
              <a:buNone/>
              <a:defRPr lang="fr-FR" sz="2000"/>
            </a:lvl3pPr>
            <a:lvl4pPr marL="1371600" indent="0">
              <a:spcBef>
                <a:spcPts val="1800"/>
              </a:spcBef>
              <a:buNone/>
              <a:defRPr lang="fr-FR" sz="2000"/>
            </a:lvl4pPr>
            <a:lvl5pPr marL="1828800" indent="0">
              <a:spcBef>
                <a:spcPts val="1800"/>
              </a:spcBef>
              <a:buNone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>
              <a:spcBef>
                <a:spcPts val="18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 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9" name="Espace réservé du tableau 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fr-FR"/>
            </a:lvl1pPr>
          </a:lstStyle>
          <a:p>
            <a:pPr rtl="0"/>
            <a:r>
              <a:rPr lang="fr-FR"/>
              <a:t>Cliquez sur l'icône pour ajouter un tableau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2" name="Espace réservé du titre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0" name="Espace réservé de la date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32" name="Espace réservé du numéro de diapositive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fr-FR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fr-FR">
          <a:solidFill>
            <a:schemeClr val="tx2"/>
          </a:solidFill>
        </a:defRPr>
      </a:lvl2pPr>
      <a:lvl3pPr eaLnBrk="1" hangingPunct="1">
        <a:defRPr lang="fr-FR">
          <a:solidFill>
            <a:schemeClr val="tx2"/>
          </a:solidFill>
        </a:defRPr>
      </a:lvl3pPr>
      <a:lvl4pPr eaLnBrk="1" hangingPunct="1">
        <a:defRPr lang="fr-FR">
          <a:solidFill>
            <a:schemeClr val="tx2"/>
          </a:solidFill>
        </a:defRPr>
      </a:lvl4pPr>
      <a:lvl5pPr eaLnBrk="1" hangingPunct="1">
        <a:defRPr lang="fr-FR">
          <a:solidFill>
            <a:schemeClr val="tx2"/>
          </a:solidFill>
        </a:defRPr>
      </a:lvl5pPr>
      <a:lvl6pPr eaLnBrk="1" hangingPunct="1">
        <a:defRPr lang="fr-FR">
          <a:solidFill>
            <a:schemeClr val="tx2"/>
          </a:solidFill>
        </a:defRPr>
      </a:lvl6pPr>
      <a:lvl7pPr eaLnBrk="1" hangingPunct="1">
        <a:defRPr lang="fr-FR">
          <a:solidFill>
            <a:schemeClr val="tx2"/>
          </a:solidFill>
        </a:defRPr>
      </a:lvl7pPr>
      <a:lvl8pPr eaLnBrk="1" hangingPunct="1">
        <a:defRPr lang="fr-FR">
          <a:solidFill>
            <a:schemeClr val="tx2"/>
          </a:solidFill>
        </a:defRPr>
      </a:lvl8pPr>
      <a:lvl9pPr eaLnBrk="1" hangingPunct="1">
        <a:defRPr lang="fr-FR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8800" y="2384905"/>
            <a:ext cx="8615680" cy="1452046"/>
          </a:xfrm>
        </p:spPr>
        <p:txBody>
          <a:bodyPr rtlCol="0"/>
          <a:lstStyle>
            <a:defPPr>
              <a:defRPr lang="fr-FR"/>
            </a:defPPr>
          </a:lstStyle>
          <a:p>
            <a:pPr rtl="0">
              <a:lnSpc>
                <a:spcPct val="100000"/>
              </a:lnSpc>
            </a:pPr>
            <a:r>
              <a:rPr lang="fr-F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Chapitre 11 :</a:t>
            </a:r>
            <a:br>
              <a:rPr lang="fr-F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Notion sur les composants et les </a:t>
            </a:r>
            <a:r>
              <a:rPr lang="fr-F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props</a:t>
            </a:r>
            <a:endParaRPr lang="fr-FR" sz="4800" b="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AD0B45C-24F7-FCC9-9ED3-571C0676D877}"/>
              </a:ext>
            </a:extLst>
          </p:cNvPr>
          <p:cNvSpPr txBox="1"/>
          <p:nvPr/>
        </p:nvSpPr>
        <p:spPr>
          <a:xfrm>
            <a:off x="3241040" y="4145280"/>
            <a:ext cx="70815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Madame FANOMEZANA 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Mihajasoa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Léa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2026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6D91977-633A-8FB1-9B59-472608634FC0}"/>
              </a:ext>
            </a:extLst>
          </p:cNvPr>
          <p:cNvSpPr txBox="1"/>
          <p:nvPr/>
        </p:nvSpPr>
        <p:spPr>
          <a:xfrm>
            <a:off x="3098800" y="587890"/>
            <a:ext cx="42773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MEVN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2418ED-F197-28D6-C42C-260D28AF5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40" y="467360"/>
            <a:ext cx="10972800" cy="1630485"/>
          </a:xfrm>
        </p:spPr>
        <p:txBody>
          <a:bodyPr/>
          <a:lstStyle/>
          <a:p>
            <a:r>
              <a:rPr lang="fr-FR" b="1" i="0" dirty="0">
                <a:solidFill>
                  <a:srgbClr val="271A38"/>
                </a:solidFill>
                <a:effectLst/>
                <a:highlight>
                  <a:srgbClr val="FFFFFF"/>
                </a:highlight>
                <a:latin typeface="Inter"/>
              </a:rPr>
              <a:t>SFC</a:t>
            </a:r>
            <a:endParaRPr lang="fr-FR" dirty="0"/>
          </a:p>
        </p:txBody>
      </p:sp>
      <p:sp>
        <p:nvSpPr>
          <p:cNvPr id="3" name="Espace réservé du tableau 2">
            <a:extLst>
              <a:ext uri="{FF2B5EF4-FFF2-40B4-BE49-F238E27FC236}">
                <a16:creationId xmlns:a16="http://schemas.microsoft.com/office/drawing/2014/main" id="{6B236F17-4F9A-5897-0CA0-FD1387DA567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26571" y="2296700"/>
            <a:ext cx="11495315" cy="4093940"/>
          </a:xfrm>
          <a:noFill/>
        </p:spPr>
        <p:txBody>
          <a:bodyPr/>
          <a:lstStyle/>
          <a:p>
            <a:pPr marL="342900" indent="-342900" algn="just">
              <a:buFontTx/>
              <a:buChar char="-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SFC : Single File Component ( Composant à fichier unique)</a:t>
            </a:r>
          </a:p>
          <a:p>
            <a:pPr marL="342900" indent="-342900" algn="just">
              <a:buFontTx/>
              <a:buChar char="-"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 composant SFC est un fichier avec l'extension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.vue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qui regroupe dans un seul fichier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kumimoji="0" lang="fr-FR" altLang="fr-FR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template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(HTML)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ce qui est affiché à l'écran.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 script (JavaScript)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la logique du composant.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 style (CSS)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la mise en forme.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&gt;…&lt;/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 algn="just">
              <a:buNone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&gt;…&lt;/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 algn="just">
              <a:buNone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&gt;…&lt;/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fr-FR" altLang="fr-F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algn="just"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Tx/>
              <a:buChar char="-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75C37ED-3D25-D00F-9F73-3DF069D2F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70149"/>
            <a:ext cx="65" cy="5974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5870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22084AB-B287-C1D6-16C1-A67348D32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82251"/>
            <a:ext cx="65" cy="5974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5870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061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86A8A3-74D0-6361-44FA-013A8F911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F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Notre première page SFC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F46C4CE-579B-B652-1A71-63E8D2258319}"/>
              </a:ext>
            </a:extLst>
          </p:cNvPr>
          <p:cNvSpPr txBox="1"/>
          <p:nvPr/>
        </p:nvSpPr>
        <p:spPr>
          <a:xfrm>
            <a:off x="354263" y="2257759"/>
            <a:ext cx="7326697" cy="440120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template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h1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{{ 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message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}}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h1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0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template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b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</a:b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script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export</a:t>
            </a:r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default</a:t>
            </a:r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000" b="0" dirty="0">
                <a:solidFill>
                  <a:srgbClr val="D2A8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data</a:t>
            </a:r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() 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{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return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  message</a:t>
            </a:r>
            <a:r>
              <a:rPr lang="fr-FR" sz="20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"This </a:t>
            </a:r>
            <a:r>
              <a:rPr lang="fr-FR" sz="2000" b="0" dirty="0" err="1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is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 err="1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some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 err="1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text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};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}</a:t>
            </a:r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}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script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b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</a:b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style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&gt;&lt;/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style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541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1886838-FA5D-65D5-C008-088614DA3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composants Vue (Component)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ADDB3B8-77EC-451D-E5AA-B834B4CAB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332" y="2597447"/>
            <a:ext cx="11347267" cy="2677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 concept des Composants se repose sur la subdivision de la page web en plusieurs parties afin de rendre facile le développement de l’application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fr-FR" alt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Facile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Bien ordonn</a:t>
            </a:r>
            <a:r>
              <a:rPr lang="fr-FR" alt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Indépendant les uns des autres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fr-FR" alt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Réutilisable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fr-FR" alt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alable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25159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B605EB-9FE3-C6FE-208A-226D071B0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FR" dirty="0"/>
              <a:t>Création d’un composant</a:t>
            </a:r>
            <a:endParaRPr lang="fr-FR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13CE69B-49F5-D822-4B4D-C7D8A73CD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893" y="2317619"/>
            <a:ext cx="11347267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Création d’un </a:t>
            </a:r>
            <a:r>
              <a:rPr lang="fr-FR" alt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dossier nommé </a:t>
            </a:r>
            <a:r>
              <a:rPr lang="fr-FR" altLang="fr-FR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fr-FR" alt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dans </a:t>
            </a:r>
            <a:r>
              <a:rPr lang="fr-FR" altLang="fr-FR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fr-FR" alt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Création d’un composant </a:t>
            </a:r>
            <a:r>
              <a:rPr lang="fr-FR" sz="24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FruitItem.vue</a:t>
            </a:r>
            <a:endParaRPr kumimoji="0" lang="fr-FR" altLang="fr-FR" sz="2400" b="1" i="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1A69602-2486-E585-F718-0398EC277B27}"/>
              </a:ext>
            </a:extLst>
          </p:cNvPr>
          <p:cNvSpPr txBox="1"/>
          <p:nvPr/>
        </p:nvSpPr>
        <p:spPr>
          <a:xfrm>
            <a:off x="382601" y="3331265"/>
            <a:ext cx="4593659" cy="19389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template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div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h2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{{ </a:t>
            </a:r>
            <a:r>
              <a:rPr lang="fr-FR" sz="20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name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}}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h2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p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{{ 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message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}}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p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div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0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template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72901A0-E1B8-4AFD-FAB5-EE0008AC568D}"/>
              </a:ext>
            </a:extLst>
          </p:cNvPr>
          <p:cNvSpPr txBox="1"/>
          <p:nvPr/>
        </p:nvSpPr>
        <p:spPr>
          <a:xfrm>
            <a:off x="5098982" y="3312013"/>
            <a:ext cx="4978668" cy="34778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script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export</a:t>
            </a:r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default</a:t>
            </a:r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000" b="0" dirty="0">
                <a:solidFill>
                  <a:srgbClr val="D2A8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data</a:t>
            </a:r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() 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{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return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  </a:t>
            </a:r>
            <a:r>
              <a:rPr lang="fr-FR" sz="20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name</a:t>
            </a:r>
            <a:r>
              <a:rPr lang="fr-FR" sz="20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</a:t>
            </a:r>
            <a:r>
              <a:rPr lang="fr-FR" sz="2000" dirty="0">
                <a:solidFill>
                  <a:srgbClr val="A5D6FF"/>
                </a:solidFill>
                <a:highlight>
                  <a:srgbClr val="121314"/>
                </a:highlight>
                <a:latin typeface="Consolas" panose="020B0609020204030204" pitchFamily="49" charset="0"/>
              </a:rPr>
              <a:t>Pomme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  message</a:t>
            </a:r>
            <a:r>
              <a:rPr lang="fr-FR" sz="20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"Voici ma pomme"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};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}</a:t>
            </a:r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}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script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b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</a:b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style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&gt;&lt;/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style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675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627D8A-FD53-125E-199D-707F38B08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Ajout du premier composant </a:t>
            </a:r>
          </a:p>
        </p:txBody>
      </p:sp>
      <p:sp>
        <p:nvSpPr>
          <p:cNvPr id="3" name="Espace réservé du tableau 2">
            <a:extLst>
              <a:ext uri="{FF2B5EF4-FFF2-40B4-BE49-F238E27FC236}">
                <a16:creationId xmlns:a16="http://schemas.microsoft.com/office/drawing/2014/main" id="{33B330F8-BFFB-6FB6-65B4-F76F9C031E2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00444" y="2453714"/>
            <a:ext cx="11608527" cy="4038600"/>
          </a:xfrm>
        </p:spPr>
        <p:txBody>
          <a:bodyPr/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Ajout de l’import dans main.js 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import</a:t>
            </a:r>
            <a:r>
              <a:rPr lang="en-US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FruitItem</a:t>
            </a:r>
            <a:r>
              <a:rPr lang="en-US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from</a:t>
            </a:r>
            <a:r>
              <a:rPr lang="en-US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'./components/</a:t>
            </a:r>
            <a:r>
              <a:rPr lang="en-US" sz="2400" b="0" dirty="0" err="1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FruitItem.vue</a:t>
            </a:r>
            <a:r>
              <a:rPr lang="en-US" sz="24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’</a:t>
            </a:r>
            <a:endParaRPr lang="en-US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Puis, on personnalise le nom du composant en ajoutant dans main.js</a:t>
            </a:r>
          </a:p>
          <a:p>
            <a:pPr marL="0" indent="0">
              <a:buNone/>
            </a:pPr>
            <a:r>
              <a:rPr lang="fr-FR" sz="24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app</a:t>
            </a:r>
            <a:r>
              <a:rPr lang="fr-FR" sz="2400" b="0" dirty="0" err="1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.</a:t>
            </a:r>
            <a:r>
              <a:rPr lang="fr-FR" sz="2400" b="0" dirty="0" err="1">
                <a:solidFill>
                  <a:srgbClr val="D2A8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component</a:t>
            </a:r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(</a:t>
            </a:r>
            <a:r>
              <a:rPr lang="fr-FR" sz="24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‘</a:t>
            </a:r>
            <a:r>
              <a:rPr lang="fr-FR" sz="24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FruitItem</a:t>
            </a:r>
            <a:r>
              <a:rPr lang="fr-FR" sz="24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’</a:t>
            </a:r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 </a:t>
            </a:r>
            <a:r>
              <a:rPr lang="fr-FR" sz="24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FruitItem</a:t>
            </a:r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)</a:t>
            </a:r>
            <a:endParaRPr lang="fr-FR" sz="2400" dirty="0"/>
          </a:p>
          <a:p>
            <a:pPr marL="0" indent="0"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 on met directement la ligne suivante </a:t>
            </a:r>
            <a:r>
              <a:rPr 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dans la </a:t>
            </a:r>
            <a:r>
              <a:rPr lang="en-US" sz="24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script&gt; de la page </a:t>
            </a:r>
            <a:r>
              <a:rPr lang="en-US" sz="24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où</a:t>
            </a:r>
            <a:r>
              <a:rPr 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sz="24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l’utilise</a:t>
            </a:r>
            <a:r>
              <a:rPr 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composant</a:t>
            </a:r>
            <a:r>
              <a:rPr 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local) : </a:t>
            </a:r>
          </a:p>
          <a:p>
            <a:pPr marL="0" indent="0">
              <a:buNone/>
            </a:pPr>
            <a:r>
              <a:rPr lang="en-US" sz="22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  <a:cs typeface="Times New Roman" panose="02020603050405020304" pitchFamily="18" charset="0"/>
              </a:rPr>
              <a:t>&lt;</a:t>
            </a:r>
            <a:r>
              <a:rPr lang="en-US" sz="22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  <a:cs typeface="Times New Roman" panose="02020603050405020304" pitchFamily="18" charset="0"/>
              </a:rPr>
              <a:t>script</a:t>
            </a:r>
            <a:r>
              <a:rPr lang="en-US" sz="22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  <a:cs typeface="Times New Roman" panose="02020603050405020304" pitchFamily="18" charset="0"/>
              </a:rPr>
              <a:t>setup</a:t>
            </a:r>
            <a:r>
              <a:rPr lang="en-US" sz="22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  <a:cs typeface="Times New Roman" panose="02020603050405020304" pitchFamily="18" charset="0"/>
              </a:rPr>
              <a:t>&gt; </a:t>
            </a:r>
            <a:r>
              <a:rPr lang="en-US" sz="22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  <a:cs typeface="Times New Roman" panose="02020603050405020304" pitchFamily="18" charset="0"/>
              </a:rPr>
              <a:t>import</a:t>
            </a:r>
            <a:r>
              <a:rPr lang="en-US" sz="22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  <a:cs typeface="Times New Roman" panose="02020603050405020304" pitchFamily="18" charset="0"/>
              </a:rPr>
              <a:t>FruitItem</a:t>
            </a:r>
            <a:r>
              <a:rPr lang="en-US" sz="22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sz="22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  <a:cs typeface="Times New Roman" panose="02020603050405020304" pitchFamily="18" charset="0"/>
              </a:rPr>
              <a:t>from </a:t>
            </a:r>
            <a:r>
              <a:rPr lang="en-US" sz="22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  <a:cs typeface="Times New Roman" panose="02020603050405020304" pitchFamily="18" charset="0"/>
              </a:rPr>
              <a:t>'./components/</a:t>
            </a:r>
            <a:r>
              <a:rPr lang="en-US" sz="2200" b="0" dirty="0" err="1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  <a:cs typeface="Times New Roman" panose="02020603050405020304" pitchFamily="18" charset="0"/>
              </a:rPr>
              <a:t>FruitItem.vue</a:t>
            </a:r>
            <a:r>
              <a:rPr lang="en-US" sz="22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  <a:cs typeface="Times New Roman" panose="02020603050405020304" pitchFamily="18" charset="0"/>
              </a:rPr>
              <a:t>'</a:t>
            </a:r>
            <a:r>
              <a:rPr lang="en-US" sz="22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  <a:cs typeface="Times New Roman" panose="02020603050405020304" pitchFamily="18" charset="0"/>
              </a:rPr>
              <a:t>&lt;/</a:t>
            </a:r>
            <a:r>
              <a:rPr lang="en-US" sz="22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  <a:cs typeface="Times New Roman" panose="02020603050405020304" pitchFamily="18" charset="0"/>
              </a:rPr>
              <a:t>script</a:t>
            </a:r>
            <a:r>
              <a:rPr lang="en-US" sz="22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  <a:cs typeface="Times New Roman" panose="02020603050405020304" pitchFamily="18" charset="0"/>
              </a:rPr>
              <a:t>&gt;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l’utilisation du composant dans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App.vue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indent="0">
              <a:buNone/>
            </a:pP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FruitItem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&gt;&lt;/</a:t>
            </a:r>
            <a:r>
              <a:rPr lang="fr-FR" sz="24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FruitItem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r>
              <a:rPr lang="fr-FR" sz="240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/>
              <a:t>ou 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FruitItem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/&gt;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80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DF974B-750C-82C8-B3A6-84958FFAF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74" y="119743"/>
            <a:ext cx="10972800" cy="618839"/>
          </a:xfrm>
        </p:spPr>
        <p:txBody>
          <a:bodyPr/>
          <a:lstStyle/>
          <a:p>
            <a:r>
              <a:rPr lang="fr-FR" dirty="0"/>
              <a:t>Composants et </a:t>
            </a:r>
            <a:r>
              <a:rPr lang="fr-FR" dirty="0" err="1"/>
              <a:t>évènementss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340FA1E-5322-782A-3336-74C2624C8D13}"/>
              </a:ext>
            </a:extLst>
          </p:cNvPr>
          <p:cNvSpPr txBox="1"/>
          <p:nvPr/>
        </p:nvSpPr>
        <p:spPr>
          <a:xfrm>
            <a:off x="202474" y="1207602"/>
            <a:ext cx="7162800" cy="56323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template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div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v-on</a:t>
            </a:r>
            <a:r>
              <a:rPr lang="fr-FR" sz="2000" b="0" dirty="0" err="1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0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click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="</a:t>
            </a:r>
            <a:r>
              <a:rPr lang="fr-FR" sz="2000" b="0" dirty="0" err="1">
                <a:solidFill>
                  <a:srgbClr val="D2A8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countClicks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h2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{{ </a:t>
            </a:r>
            <a:r>
              <a:rPr lang="fr-FR" sz="20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name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}}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h2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p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{{ 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message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}}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p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p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id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=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</a:t>
            </a:r>
            <a:r>
              <a:rPr lang="fr-FR" sz="2000" b="0" dirty="0" err="1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red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</a:p>
          <a:p>
            <a:r>
              <a:rPr lang="fr-FR" sz="2000" dirty="0">
                <a:solidFill>
                  <a:srgbClr val="808080"/>
                </a:solidFill>
                <a:highlight>
                  <a:srgbClr val="121314"/>
                </a:highlight>
                <a:latin typeface="Consolas" panose="020B0609020204030204" pitchFamily="49" charset="0"/>
              </a:rPr>
              <a:t>	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vous avez cliqué sur moi {{ 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clicks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}} </a:t>
            </a:r>
            <a:r>
              <a:rPr lang="fr-FR" sz="2000" dirty="0">
                <a:solidFill>
                  <a:srgbClr val="BBBEBF"/>
                </a:solidFill>
                <a:highlight>
                  <a:srgbClr val="121314"/>
                </a:highlight>
                <a:latin typeface="Consolas" panose="020B0609020204030204" pitchFamily="49" charset="0"/>
              </a:rPr>
              <a:t> fois</a:t>
            </a:r>
          </a:p>
          <a:p>
            <a:r>
              <a:rPr lang="fr-FR" sz="2000" dirty="0">
                <a:solidFill>
                  <a:srgbClr val="BBBEBF"/>
                </a:solidFill>
                <a:highlight>
                  <a:srgbClr val="121314"/>
                </a:highlight>
                <a:latin typeface="Consolas" panose="020B0609020204030204" pitchFamily="49" charset="0"/>
              </a:rPr>
              <a:t>   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p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div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0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template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b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</a:b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style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D7BA7D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#red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0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font-</a:t>
            </a:r>
            <a:r>
              <a:rPr lang="fr-FR" sz="20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weight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 </a:t>
            </a:r>
            <a:r>
              <a:rPr lang="fr-FR" sz="2000" b="0" dirty="0" err="1">
                <a:solidFill>
                  <a:srgbClr val="CE9178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bold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0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color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 </a:t>
            </a:r>
            <a:r>
              <a:rPr lang="fr-FR" sz="2000" b="0" dirty="0" err="1">
                <a:solidFill>
                  <a:srgbClr val="DCDCAA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rgb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(</a:t>
            </a:r>
            <a:r>
              <a:rPr lang="fr-FR" sz="2000" b="0" dirty="0">
                <a:solidFill>
                  <a:srgbClr val="B5CEA8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144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 </a:t>
            </a:r>
            <a:r>
              <a:rPr lang="fr-FR" sz="2000" b="0" dirty="0">
                <a:solidFill>
                  <a:srgbClr val="B5CEA8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12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 </a:t>
            </a:r>
            <a:r>
              <a:rPr lang="fr-FR" sz="2000" b="0" dirty="0">
                <a:solidFill>
                  <a:srgbClr val="B5CEA8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12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style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b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</a:b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F9228AE-3516-3D1F-5117-B6D969FDC51E}"/>
              </a:ext>
            </a:extLst>
          </p:cNvPr>
          <p:cNvSpPr txBox="1"/>
          <p:nvPr/>
        </p:nvSpPr>
        <p:spPr>
          <a:xfrm>
            <a:off x="7517674" y="1185117"/>
            <a:ext cx="4674326" cy="53245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b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</a:b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script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export</a:t>
            </a:r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default</a:t>
            </a:r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000" b="0" dirty="0">
                <a:solidFill>
                  <a:srgbClr val="D2A8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data</a:t>
            </a:r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() 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{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return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  </a:t>
            </a:r>
            <a:r>
              <a:rPr lang="fr-FR" sz="20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name</a:t>
            </a:r>
            <a:r>
              <a:rPr lang="fr-FR" sz="20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'pomme'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  message</a:t>
            </a:r>
            <a:r>
              <a:rPr lang="fr-FR" sz="20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'voici ma pomme'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  clicks</a:t>
            </a:r>
            <a:r>
              <a:rPr lang="fr-FR" sz="20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B5CEA8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0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}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}</a:t>
            </a:r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0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methods</a:t>
            </a:r>
            <a:r>
              <a:rPr lang="fr-FR" sz="20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</a:t>
            </a:r>
            <a:r>
              <a:rPr lang="fr-FR" sz="2000" b="0" dirty="0" err="1">
                <a:solidFill>
                  <a:srgbClr val="D2A8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countClicks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() {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  </a:t>
            </a:r>
            <a:r>
              <a:rPr lang="fr-FR" sz="2000" b="0" dirty="0" err="1">
                <a:solidFill>
                  <a:srgbClr val="79C0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this</a:t>
            </a:r>
            <a:r>
              <a:rPr lang="fr-FR" sz="20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.clicks</a:t>
            </a:r>
            <a:r>
              <a:rPr lang="fr-FR" sz="2000" b="0" dirty="0">
                <a:solidFill>
                  <a:srgbClr val="D4D4D4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++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},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}</a:t>
            </a:r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}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script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7EBD323-7833-9318-FA4E-BD6243B68EF5}"/>
              </a:ext>
            </a:extLst>
          </p:cNvPr>
          <p:cNvSpPr txBox="1"/>
          <p:nvPr/>
        </p:nvSpPr>
        <p:spPr>
          <a:xfrm>
            <a:off x="74293" y="785007"/>
            <a:ext cx="3102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FruitItem.vue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846382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346ED6-1532-3437-F05C-22120FD83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17" y="245111"/>
            <a:ext cx="10972800" cy="695039"/>
          </a:xfrm>
        </p:spPr>
        <p:txBody>
          <a:bodyPr/>
          <a:lstStyle/>
          <a:p>
            <a:r>
              <a:rPr lang="fr-FR" dirty="0" err="1"/>
              <a:t>Props</a:t>
            </a:r>
            <a:endParaRPr lang="fr-FR" dirty="0"/>
          </a:p>
        </p:txBody>
      </p:sp>
      <p:sp>
        <p:nvSpPr>
          <p:cNvPr id="3" name="Espace réservé du tableau 2">
            <a:extLst>
              <a:ext uri="{FF2B5EF4-FFF2-40B4-BE49-F238E27FC236}">
                <a16:creationId xmlns:a16="http://schemas.microsoft.com/office/drawing/2014/main" id="{9AA2E82B-989B-D1F8-63BF-51DB83819CF3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37160" y="1164228"/>
            <a:ext cx="11760926" cy="695039"/>
          </a:xfrm>
        </p:spPr>
        <p:txBody>
          <a:bodyPr/>
          <a:lstStyle/>
          <a:p>
            <a:pPr marL="0" indent="0">
              <a:buNone/>
            </a:pP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 une option de configuration dans Vue qui permet de transmettre des données vers un composant via des attributs personnalisés de la balise du composant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9440EBA-9240-6B86-2E9C-05461807D2DB}"/>
              </a:ext>
            </a:extLst>
          </p:cNvPr>
          <p:cNvSpPr txBox="1"/>
          <p:nvPr/>
        </p:nvSpPr>
        <p:spPr>
          <a:xfrm>
            <a:off x="137160" y="2830747"/>
            <a:ext cx="4434840" cy="34163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template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h2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{{ </a:t>
            </a:r>
            <a:r>
              <a:rPr lang="fr-FR" sz="24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nomFruit</a:t>
            </a:r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}}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h2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4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template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b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</a:b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script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export</a:t>
            </a:r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default</a:t>
            </a:r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4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props</a:t>
            </a:r>
            <a:r>
              <a:rPr lang="fr-FR" sz="24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[</a:t>
            </a:r>
            <a:r>
              <a:rPr lang="fr-FR" sz="24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'</a:t>
            </a:r>
            <a:r>
              <a:rPr lang="fr-FR" sz="2400" b="0" dirty="0" err="1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nomFruit</a:t>
            </a:r>
            <a:r>
              <a:rPr lang="fr-FR" sz="24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'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]</a:t>
            </a:r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}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script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DBC6761-2564-CE9B-8BB5-3903F5BFC846}"/>
              </a:ext>
            </a:extLst>
          </p:cNvPr>
          <p:cNvSpPr txBox="1"/>
          <p:nvPr/>
        </p:nvSpPr>
        <p:spPr>
          <a:xfrm>
            <a:off x="137160" y="2335730"/>
            <a:ext cx="3102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FruitItem.vue</a:t>
            </a:r>
            <a:endParaRPr lang="fr-FR" sz="20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3F906A1-7E85-34B0-56E8-555695987E5F}"/>
              </a:ext>
            </a:extLst>
          </p:cNvPr>
          <p:cNvSpPr txBox="1"/>
          <p:nvPr/>
        </p:nvSpPr>
        <p:spPr>
          <a:xfrm>
            <a:off x="4759778" y="2368540"/>
            <a:ext cx="3102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App.vue</a:t>
            </a:r>
            <a:endParaRPr lang="fr-FR" sz="20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3F745FA-DBAB-AF86-D173-DF3353F69A62}"/>
              </a:ext>
            </a:extLst>
          </p:cNvPr>
          <p:cNvSpPr txBox="1"/>
          <p:nvPr/>
        </p:nvSpPr>
        <p:spPr>
          <a:xfrm>
            <a:off x="4683578" y="2833814"/>
            <a:ext cx="7214507" cy="286232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script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setup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import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FruitItem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 err="1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from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'./components/</a:t>
            </a:r>
            <a:r>
              <a:rPr lang="fr-FR" sz="2000" b="0" dirty="0" err="1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FruitItem.vue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'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script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b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</a:b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template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h1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Fruit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h1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b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</a:b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FruitItem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nomFruit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=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"Pomme"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/&gt;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FruitItem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nomFruit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=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"Ananas"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/&gt;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0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template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453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1B3C6A-CDAB-C860-ED4D-3A8C20216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Interface </a:t>
            </a:r>
            <a:r>
              <a:rPr lang="fr-FR" dirty="0" err="1"/>
              <a:t>Props</a:t>
            </a:r>
            <a:endParaRPr lang="fr-FR" dirty="0"/>
          </a:p>
        </p:txBody>
      </p:sp>
      <p:sp>
        <p:nvSpPr>
          <p:cNvPr id="3" name="Espace réservé du tableau 2">
            <a:extLst>
              <a:ext uri="{FF2B5EF4-FFF2-40B4-BE49-F238E27FC236}">
                <a16:creationId xmlns:a16="http://schemas.microsoft.com/office/drawing/2014/main" id="{6F58A1AE-7CD4-655E-CE23-C594ACDE3BB9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80703" y="2367372"/>
            <a:ext cx="10972800" cy="3636740"/>
          </a:xfrm>
        </p:spPr>
        <p:txBody>
          <a:bodyPr/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code ci-dessus ne permet pas de savoir les autres caractéristiques requises</a:t>
            </a:r>
            <a:r>
              <a:rPr lang="fr-FR" sz="1600" dirty="0"/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pour  la propriété </a:t>
            </a:r>
            <a:r>
              <a:rPr lang="fr-FR" sz="24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nomFruit</a:t>
            </a:r>
            <a:r>
              <a:rPr lang="fr-FR" sz="2400" dirty="0">
                <a:solidFill>
                  <a:srgbClr val="9CDC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</a:t>
            </a:r>
            <a:r>
              <a:rPr lang="fr-FR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savoir le type de données, si la propriété est obligatoire ou non,…</a:t>
            </a:r>
          </a:p>
          <a:p>
            <a:r>
              <a:rPr lang="fr-FR" sz="2400" b="0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Pour </a:t>
            </a:r>
            <a:r>
              <a:rPr lang="fr-FR" sz="2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remédier à cela, la solution que Vue propose est le </a:t>
            </a:r>
            <a:r>
              <a:rPr lang="fr-FR" sz="2400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props</a:t>
            </a:r>
            <a:r>
              <a:rPr lang="fr-FR" sz="2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en </a:t>
            </a:r>
            <a:r>
              <a:rPr lang="fr-FR" sz="2400" b="0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tant qu'objet et le </a:t>
            </a:r>
            <a:r>
              <a:rPr lang="fr-FR" sz="2400" b="0" i="0" dirty="0" err="1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props</a:t>
            </a:r>
            <a:r>
              <a:rPr lang="fr-FR" sz="2400" b="0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requis</a:t>
            </a:r>
          </a:p>
          <a:p>
            <a:pPr marL="0" indent="0"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938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DAF0C6-81E2-EAC2-FC2D-08A119771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Props</a:t>
            </a:r>
            <a:r>
              <a:rPr lang="fr-FR" dirty="0"/>
              <a:t> en tant qu’objet</a:t>
            </a:r>
          </a:p>
        </p:txBody>
      </p:sp>
      <p:sp>
        <p:nvSpPr>
          <p:cNvPr id="3" name="Espace réservé du tableau 2">
            <a:extLst>
              <a:ext uri="{FF2B5EF4-FFF2-40B4-BE49-F238E27FC236}">
                <a16:creationId xmlns:a16="http://schemas.microsoft.com/office/drawing/2014/main" id="{81886971-0289-8BE5-0117-8C60B6CCD019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091250" y="2905622"/>
            <a:ext cx="6600006" cy="2378495"/>
          </a:xfrm>
        </p:spPr>
        <p:txBody>
          <a:bodyPr/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tant qu’objet, </a:t>
            </a:r>
            <a:r>
              <a:rPr lang="fr-FR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on peut définir </a:t>
            </a:r>
            <a:r>
              <a:rPr lang="fr-F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le type de données </a:t>
            </a:r>
            <a:r>
              <a:rPr lang="fr-FR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 chaque propriété en plus de son nom</a:t>
            </a:r>
          </a:p>
          <a:p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Avec des propriétés définies de cette manière, d'autres personnes dans une équipe peuvent regarder à l'intérieur 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FruitItem.vue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 voir facilement ce que le composant attend.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8196751-287E-1063-5290-FA2D99A1F384}"/>
              </a:ext>
            </a:extLst>
          </p:cNvPr>
          <p:cNvSpPr txBox="1"/>
          <p:nvPr/>
        </p:nvSpPr>
        <p:spPr>
          <a:xfrm>
            <a:off x="217715" y="2386710"/>
            <a:ext cx="4495799" cy="378565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script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export</a:t>
            </a:r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default</a:t>
            </a:r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400" b="0" dirty="0">
                <a:solidFill>
                  <a:srgbClr val="8B949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// </a:t>
            </a:r>
            <a:r>
              <a:rPr lang="fr-FR" sz="2400" b="0" dirty="0" err="1">
                <a:solidFill>
                  <a:srgbClr val="8B949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props</a:t>
            </a:r>
            <a:r>
              <a:rPr lang="fr-FR" sz="2400" b="0" dirty="0">
                <a:solidFill>
                  <a:srgbClr val="8B949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 ['</a:t>
            </a:r>
            <a:r>
              <a:rPr lang="fr-FR" sz="2400" b="0" dirty="0" err="1">
                <a:solidFill>
                  <a:srgbClr val="8B949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nomFruit</a:t>
            </a:r>
            <a:r>
              <a:rPr lang="fr-FR" sz="2400" b="0" dirty="0">
                <a:solidFill>
                  <a:srgbClr val="8B949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’,</a:t>
            </a:r>
            <a:r>
              <a:rPr lang="fr-FR" sz="2400" b="0" dirty="0" err="1">
                <a:solidFill>
                  <a:srgbClr val="8B949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estSucre</a:t>
            </a:r>
            <a:r>
              <a:rPr lang="fr-FR" sz="2400" b="0" dirty="0">
                <a:solidFill>
                  <a:srgbClr val="8B949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],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4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props</a:t>
            </a:r>
            <a:r>
              <a:rPr lang="fr-FR" sz="24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</a:t>
            </a:r>
            <a:r>
              <a:rPr lang="fr-FR" sz="2400" b="0" dirty="0" err="1">
                <a:solidFill>
                  <a:srgbClr val="4EC9B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nomFruit</a:t>
            </a:r>
            <a:r>
              <a:rPr lang="fr-FR" sz="24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4EC9B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String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</a:t>
            </a:r>
            <a:r>
              <a:rPr lang="fr-FR" sz="2400" b="0" dirty="0" err="1">
                <a:solidFill>
                  <a:srgbClr val="4EC9B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estSucre</a:t>
            </a:r>
            <a:r>
              <a:rPr lang="fr-FR" sz="24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4EC9B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Boolean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}</a:t>
            </a:r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}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script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0AD7FCC-9111-F316-8096-20B2E32C8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3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99B62426-0098-787A-7E2B-53A4D1695305}"/>
              </a:ext>
            </a:extLst>
          </p:cNvPr>
          <p:cNvSpPr txBox="1"/>
          <p:nvPr/>
        </p:nvSpPr>
        <p:spPr>
          <a:xfrm>
            <a:off x="174172" y="485141"/>
            <a:ext cx="4637314" cy="60016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template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h2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{{ </a:t>
            </a:r>
            <a:r>
              <a:rPr lang="fr-FR" sz="24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nomFruit</a:t>
            </a:r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}}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h2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p</a:t>
            </a:r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v-show</a:t>
            </a:r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="</a:t>
            </a:r>
            <a:r>
              <a:rPr lang="fr-FR" sz="24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estSucre</a:t>
            </a:r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</a:p>
          <a:p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Oui c'est sucre pas acide</a:t>
            </a:r>
          </a:p>
          <a:p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 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p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4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template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b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</a:b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script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export</a:t>
            </a:r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default</a:t>
            </a:r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400" b="0" dirty="0">
                <a:solidFill>
                  <a:srgbClr val="8B949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// </a:t>
            </a:r>
            <a:r>
              <a:rPr lang="fr-FR" sz="2400" b="0" dirty="0" err="1">
                <a:solidFill>
                  <a:srgbClr val="8B949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props</a:t>
            </a:r>
            <a:r>
              <a:rPr lang="fr-FR" sz="2400" b="0" dirty="0">
                <a:solidFill>
                  <a:srgbClr val="8B949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 ['</a:t>
            </a:r>
            <a:r>
              <a:rPr lang="fr-FR" sz="2400" b="0" dirty="0" err="1">
                <a:solidFill>
                  <a:srgbClr val="8B949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nomFruit</a:t>
            </a:r>
            <a:r>
              <a:rPr lang="fr-FR" sz="2400" b="0" dirty="0">
                <a:solidFill>
                  <a:srgbClr val="8B949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'],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4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props</a:t>
            </a:r>
            <a:r>
              <a:rPr lang="fr-FR" sz="24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</a:t>
            </a:r>
            <a:r>
              <a:rPr lang="fr-FR" sz="2400" b="0" dirty="0" err="1">
                <a:solidFill>
                  <a:srgbClr val="4EC9B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nomFruit</a:t>
            </a:r>
            <a:r>
              <a:rPr lang="fr-FR" sz="24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4EC9B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String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</a:t>
            </a:r>
            <a:r>
              <a:rPr lang="fr-FR" sz="2400" b="0" dirty="0" err="1">
                <a:solidFill>
                  <a:srgbClr val="4EC9B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estSucre</a:t>
            </a:r>
            <a:r>
              <a:rPr lang="fr-FR" sz="24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4EC9B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Boolean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}</a:t>
            </a:r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}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script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25E7DA5-4F90-D144-4BDE-1378A839ABBE}"/>
              </a:ext>
            </a:extLst>
          </p:cNvPr>
          <p:cNvSpPr txBox="1"/>
          <p:nvPr/>
        </p:nvSpPr>
        <p:spPr>
          <a:xfrm>
            <a:off x="272143" y="27959"/>
            <a:ext cx="3102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FruitItem.vue</a:t>
            </a:r>
            <a:endParaRPr lang="fr-FR" sz="20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735DC6F-C135-18E4-5A13-C879734EF375}"/>
              </a:ext>
            </a:extLst>
          </p:cNvPr>
          <p:cNvSpPr txBox="1"/>
          <p:nvPr/>
        </p:nvSpPr>
        <p:spPr>
          <a:xfrm>
            <a:off x="6879772" y="55918"/>
            <a:ext cx="3102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App.vue</a:t>
            </a:r>
            <a:endParaRPr lang="fr-FR" sz="20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B7C76A3-A19B-DC62-ED22-842841DD2484}"/>
              </a:ext>
            </a:extLst>
          </p:cNvPr>
          <p:cNvSpPr txBox="1"/>
          <p:nvPr/>
        </p:nvSpPr>
        <p:spPr>
          <a:xfrm>
            <a:off x="4920343" y="485141"/>
            <a:ext cx="6945085" cy="489364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script</a:t>
            </a:r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setup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import</a:t>
            </a:r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FruitItem</a:t>
            </a:r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from</a:t>
            </a:r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'./components/</a:t>
            </a:r>
            <a:r>
              <a:rPr lang="fr-FR" sz="2400" b="0" dirty="0" err="1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FruitItem.vue</a:t>
            </a:r>
            <a:r>
              <a:rPr lang="fr-FR" sz="24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'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script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b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</a:b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template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h1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Fruit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h1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b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</a:br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FruitItem</a:t>
            </a:r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</a:p>
          <a:p>
            <a:r>
              <a:rPr lang="fr-FR" sz="2400" dirty="0">
                <a:solidFill>
                  <a:srgbClr val="BBBEBF"/>
                </a:solidFill>
                <a:highlight>
                  <a:srgbClr val="121314"/>
                </a:highlight>
                <a:latin typeface="Consolas" panose="020B0609020204030204" pitchFamily="49" charset="0"/>
              </a:rPr>
              <a:t>	</a:t>
            </a:r>
            <a:r>
              <a:rPr lang="fr-FR" sz="24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nomFruit</a:t>
            </a:r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"Pomme"</a:t>
            </a:r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</a:p>
          <a:p>
            <a:r>
              <a:rPr lang="fr-FR" sz="2400" dirty="0">
                <a:solidFill>
                  <a:srgbClr val="BBBEBF"/>
                </a:solidFill>
                <a:highlight>
                  <a:srgbClr val="121314"/>
                </a:highlight>
                <a:latin typeface="Consolas" panose="020B0609020204030204" pitchFamily="49" charset="0"/>
              </a:rPr>
              <a:t>	</a:t>
            </a:r>
            <a:r>
              <a:rPr lang="fr-FR" sz="24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v-bind</a:t>
            </a:r>
            <a:r>
              <a:rPr lang="fr-FR" sz="2400" b="0" dirty="0" err="1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4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estSucre</a:t>
            </a:r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="</a:t>
            </a:r>
            <a:r>
              <a:rPr lang="fr-FR" sz="2400" b="0" dirty="0" err="1">
                <a:solidFill>
                  <a:srgbClr val="569CD6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true</a:t>
            </a:r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/&gt;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FruitItem</a:t>
            </a:r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nomFruit</a:t>
            </a:r>
            <a:r>
              <a:rPr lang="fr-FR" sz="24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"Ananas"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/&gt;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4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template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C0CEBB0-8BF2-7D31-4F57-C68298191D3C}"/>
              </a:ext>
            </a:extLst>
          </p:cNvPr>
          <p:cNvSpPr txBox="1"/>
          <p:nvPr/>
        </p:nvSpPr>
        <p:spPr>
          <a:xfrm>
            <a:off x="5061858" y="5390919"/>
            <a:ext cx="649877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200" dirty="0">
                <a:solidFill>
                  <a:schemeClr val="bg1"/>
                </a:solidFill>
              </a:rPr>
              <a:t>« </a:t>
            </a:r>
            <a:r>
              <a:rPr lang="fr-FR" sz="2200" dirty="0" err="1">
                <a:solidFill>
                  <a:schemeClr val="bg1"/>
                </a:solidFill>
              </a:rPr>
              <a:t>estSucre</a:t>
            </a:r>
            <a:r>
              <a:rPr lang="fr-FR" sz="2200" dirty="0">
                <a:solidFill>
                  <a:schemeClr val="bg1"/>
                </a:solidFill>
              </a:rPr>
              <a:t> : Boolean » indique à Vue que </a:t>
            </a:r>
            <a:r>
              <a:rPr lang="fr-FR" sz="2200" b="1" dirty="0">
                <a:solidFill>
                  <a:schemeClr val="bg1"/>
                </a:solidFill>
              </a:rPr>
              <a:t>la </a:t>
            </a:r>
            <a:r>
              <a:rPr lang="fr-FR" sz="2200" b="1" dirty="0" err="1">
                <a:solidFill>
                  <a:schemeClr val="bg1"/>
                </a:solidFill>
              </a:rPr>
              <a:t>prop</a:t>
            </a:r>
            <a:r>
              <a:rPr lang="fr-FR" sz="2200" b="1" dirty="0">
                <a:solidFill>
                  <a:schemeClr val="bg1"/>
                </a:solidFill>
              </a:rPr>
              <a:t> devrait être un booléen</a:t>
            </a:r>
            <a:r>
              <a:rPr lang="fr-FR" sz="2200" dirty="0">
                <a:solidFill>
                  <a:schemeClr val="bg1"/>
                </a:solidFill>
              </a:rPr>
              <a:t>, mais cela ne transforme pas automatiquement toutes les valeurs reçues en booléen </a:t>
            </a:r>
            <a:r>
              <a:rPr lang="fr-FR" sz="2200" dirty="0">
                <a:solidFill>
                  <a:schemeClr val="bg1"/>
                </a:solidFill>
                <a:sym typeface="Wingdings" panose="05000000000000000000" pitchFamily="2" charset="2"/>
              </a:rPr>
              <a:t> v-</a:t>
            </a:r>
            <a:r>
              <a:rPr lang="fr-FR" sz="2200" dirty="0" err="1">
                <a:solidFill>
                  <a:schemeClr val="bg1"/>
                </a:solidFill>
                <a:sym typeface="Wingdings" panose="05000000000000000000" pitchFamily="2" charset="2"/>
              </a:rPr>
              <a:t>bind</a:t>
            </a:r>
            <a:endParaRPr lang="fr-FR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562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4B852F-18BB-85C8-FFCE-FFA6DA48E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Props</a:t>
            </a:r>
            <a:r>
              <a:rPr lang="fr-FR" dirty="0"/>
              <a:t> requis</a:t>
            </a:r>
          </a:p>
        </p:txBody>
      </p:sp>
      <p:sp>
        <p:nvSpPr>
          <p:cNvPr id="3" name="Espace réservé du tableau 2">
            <a:extLst>
              <a:ext uri="{FF2B5EF4-FFF2-40B4-BE49-F238E27FC236}">
                <a16:creationId xmlns:a16="http://schemas.microsoft.com/office/drawing/2014/main" id="{D3783194-3601-23E8-706A-3A888F51EE7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43988" y="2465343"/>
            <a:ext cx="4848498" cy="3636740"/>
          </a:xfrm>
        </p:spPr>
        <p:txBody>
          <a:bodyPr/>
          <a:lstStyle/>
          <a:p>
            <a:r>
              <a:rPr lang="fr-FR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Pour indiquer à Vue qu'une propriété est obligatoire, il faut la définir comme un objet requis.</a:t>
            </a:r>
          </a:p>
          <a:p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Puis mettre « </a:t>
            </a:r>
            <a:r>
              <a:rPr lang="fr-FR" sz="240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require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r>
              <a:rPr lang="fr-FR" sz="240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»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80A84E6-5C5D-8B63-9AA3-D118880C13F3}"/>
              </a:ext>
            </a:extLst>
          </p:cNvPr>
          <p:cNvSpPr txBox="1"/>
          <p:nvPr/>
        </p:nvSpPr>
        <p:spPr>
          <a:xfrm>
            <a:off x="5656217" y="1923584"/>
            <a:ext cx="5436326" cy="45243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script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export</a:t>
            </a:r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default</a:t>
            </a:r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400" b="0" dirty="0">
                <a:solidFill>
                  <a:srgbClr val="8B949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// </a:t>
            </a:r>
            <a:r>
              <a:rPr lang="fr-FR" sz="2400" b="0" dirty="0" err="1">
                <a:solidFill>
                  <a:srgbClr val="8B949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props</a:t>
            </a:r>
            <a:r>
              <a:rPr lang="fr-FR" sz="2400" b="0" dirty="0">
                <a:solidFill>
                  <a:srgbClr val="8B949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 ['</a:t>
            </a:r>
            <a:r>
              <a:rPr lang="fr-FR" sz="2400" b="0" dirty="0" err="1">
                <a:solidFill>
                  <a:srgbClr val="8B949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nomFruit</a:t>
            </a:r>
            <a:r>
              <a:rPr lang="fr-FR" sz="2400" b="0" dirty="0">
                <a:solidFill>
                  <a:srgbClr val="8B949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'],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4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props</a:t>
            </a:r>
            <a:r>
              <a:rPr lang="fr-FR" sz="24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fruit</a:t>
            </a:r>
            <a:r>
              <a:rPr lang="fr-FR" sz="24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  </a:t>
            </a:r>
            <a:r>
              <a:rPr lang="fr-FR" sz="2400" b="0" dirty="0">
                <a:solidFill>
                  <a:srgbClr val="4EC9B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type</a:t>
            </a:r>
            <a:r>
              <a:rPr lang="fr-FR" sz="24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4EC9B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String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  </a:t>
            </a:r>
            <a:r>
              <a:rPr lang="fr-FR" sz="24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require</a:t>
            </a:r>
            <a:r>
              <a:rPr lang="fr-FR" sz="24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569CD6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true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},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</a:t>
            </a:r>
            <a:r>
              <a:rPr lang="fr-FR" sz="2400" b="0" dirty="0" err="1">
                <a:solidFill>
                  <a:srgbClr val="4EC9B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estSucre</a:t>
            </a:r>
            <a:r>
              <a:rPr lang="fr-FR" sz="24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4EC9B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Boolean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}</a:t>
            </a:r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}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script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764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ACC68B-AA5F-EE57-3BFF-C97D1C916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Props</a:t>
            </a:r>
            <a:r>
              <a:rPr lang="fr-FR" dirty="0"/>
              <a:t> par défaut</a:t>
            </a:r>
          </a:p>
        </p:txBody>
      </p:sp>
      <p:sp>
        <p:nvSpPr>
          <p:cNvPr id="3" name="Espace réservé du tableau 2">
            <a:extLst>
              <a:ext uri="{FF2B5EF4-FFF2-40B4-BE49-F238E27FC236}">
                <a16:creationId xmlns:a16="http://schemas.microsoft.com/office/drawing/2014/main" id="{06BD8511-CD4E-28D5-4CC5-9FDF0AD69B75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4347754" cy="3636740"/>
          </a:xfrm>
        </p:spPr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définir une valeur par défaut d’un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on utilise « default : ‘la valeur par défaut’ »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C2DC16-8EDB-EC8C-73BD-C682979C9DB5}"/>
              </a:ext>
            </a:extLst>
          </p:cNvPr>
          <p:cNvSpPr txBox="1"/>
          <p:nvPr/>
        </p:nvSpPr>
        <p:spPr>
          <a:xfrm>
            <a:off x="5501640" y="1029746"/>
            <a:ext cx="6096000" cy="56323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script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export</a:t>
            </a:r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default</a:t>
            </a:r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400" b="0" dirty="0">
                <a:solidFill>
                  <a:srgbClr val="8B949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// </a:t>
            </a:r>
            <a:r>
              <a:rPr lang="fr-FR" sz="2400" b="0" dirty="0" err="1">
                <a:solidFill>
                  <a:srgbClr val="8B949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props</a:t>
            </a:r>
            <a:r>
              <a:rPr lang="fr-FR" sz="2400" b="0" dirty="0">
                <a:solidFill>
                  <a:srgbClr val="8B949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 ['</a:t>
            </a:r>
            <a:r>
              <a:rPr lang="fr-FR" sz="2400" b="0" dirty="0" err="1">
                <a:solidFill>
                  <a:srgbClr val="8B949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nomFruit</a:t>
            </a:r>
            <a:r>
              <a:rPr lang="fr-FR" sz="2400" b="0" dirty="0">
                <a:solidFill>
                  <a:srgbClr val="8B949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'],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4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props</a:t>
            </a:r>
            <a:r>
              <a:rPr lang="fr-FR" sz="24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fruit</a:t>
            </a:r>
            <a:r>
              <a:rPr lang="fr-FR" sz="24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  </a:t>
            </a:r>
            <a:r>
              <a:rPr lang="fr-FR" sz="2400" b="0" dirty="0">
                <a:solidFill>
                  <a:srgbClr val="4EC9B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type</a:t>
            </a:r>
            <a:r>
              <a:rPr lang="fr-FR" sz="24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4EC9B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String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  </a:t>
            </a:r>
            <a:r>
              <a:rPr lang="fr-FR" sz="24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require</a:t>
            </a:r>
            <a:r>
              <a:rPr lang="fr-FR" sz="24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569CD6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true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},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</a:t>
            </a:r>
            <a:r>
              <a:rPr lang="fr-FR" sz="24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estSucre</a:t>
            </a:r>
            <a:r>
              <a:rPr lang="fr-FR" sz="24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  </a:t>
            </a:r>
            <a:r>
              <a:rPr lang="fr-FR" sz="2400" b="0" dirty="0">
                <a:solidFill>
                  <a:srgbClr val="4EC9B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type</a:t>
            </a:r>
            <a:r>
              <a:rPr lang="fr-FR" sz="24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4EC9B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Boolean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  </a:t>
            </a:r>
            <a:r>
              <a:rPr lang="fr-FR" sz="2400" b="1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default</a:t>
            </a:r>
            <a:r>
              <a:rPr lang="fr-FR" sz="24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569CD6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true</a:t>
            </a:r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},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}</a:t>
            </a:r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}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script</a:t>
            </a:r>
            <a:r>
              <a:rPr lang="fr-FR" sz="24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886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855FAC-CC8D-E2F4-41C3-C661C0430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 de validation de </a:t>
            </a:r>
            <a:r>
              <a:rPr lang="fr-FR" dirty="0" err="1"/>
              <a:t>props</a:t>
            </a:r>
            <a:endParaRPr lang="fr-FR" dirty="0"/>
          </a:p>
        </p:txBody>
      </p:sp>
      <p:sp>
        <p:nvSpPr>
          <p:cNvPr id="3" name="Espace réservé du tableau 2">
            <a:extLst>
              <a:ext uri="{FF2B5EF4-FFF2-40B4-BE49-F238E27FC236}">
                <a16:creationId xmlns:a16="http://schemas.microsoft.com/office/drawing/2014/main" id="{CF856398-C1CB-A03F-86EB-5A9F029B5E1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/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fonction de validation détermine si la valeur attendue par un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valide ou non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C’est une fonction qui doit retourner par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 false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cas d’une valeur invalide du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un avertissement dans la console du navigateur lors de l'exécution de la page en mode développeur est généré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fonction de validation assure que les composants sont utilisé correctement</a:t>
            </a:r>
          </a:p>
        </p:txBody>
      </p:sp>
    </p:spTree>
    <p:extLst>
      <p:ext uri="{BB962C8B-B14F-4D97-AF65-F5344CB8AC3E}">
        <p14:creationId xmlns:p14="http://schemas.microsoft.com/office/powerpoint/2010/main" val="4027923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ableau 2">
            <a:extLst>
              <a:ext uri="{FF2B5EF4-FFF2-40B4-BE49-F238E27FC236}">
                <a16:creationId xmlns:a16="http://schemas.microsoft.com/office/drawing/2014/main" id="{B6F209DD-18BB-4B63-034D-F565D301E2C9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472645" y="431109"/>
            <a:ext cx="5283926" cy="1747427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Exemple : on peut supposer que le nom d’un fruit ne doit pas avoir une longueur supérieure à 20.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F980AE8-B591-6106-4479-CC9FF251E503}"/>
              </a:ext>
            </a:extLst>
          </p:cNvPr>
          <p:cNvSpPr txBox="1"/>
          <p:nvPr/>
        </p:nvSpPr>
        <p:spPr>
          <a:xfrm>
            <a:off x="96883" y="518194"/>
            <a:ext cx="6141719" cy="62324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21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1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script</a:t>
            </a:r>
            <a:r>
              <a:rPr lang="fr-FR" sz="21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1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1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export</a:t>
            </a:r>
            <a:r>
              <a:rPr lang="fr-FR" sz="21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1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default</a:t>
            </a:r>
            <a:r>
              <a:rPr lang="fr-FR" sz="21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  <a:endParaRPr lang="fr-FR" sz="21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1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100" b="0" dirty="0">
                <a:solidFill>
                  <a:srgbClr val="8B949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// </a:t>
            </a:r>
            <a:r>
              <a:rPr lang="fr-FR" sz="2100" b="0" dirty="0" err="1">
                <a:solidFill>
                  <a:srgbClr val="8B949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props</a:t>
            </a:r>
            <a:r>
              <a:rPr lang="fr-FR" sz="2100" b="0" dirty="0">
                <a:solidFill>
                  <a:srgbClr val="8B949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 ['</a:t>
            </a:r>
            <a:r>
              <a:rPr lang="fr-FR" sz="2100" b="0" dirty="0" err="1">
                <a:solidFill>
                  <a:srgbClr val="8B949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nomFruit</a:t>
            </a:r>
            <a:r>
              <a:rPr lang="fr-FR" sz="2100" b="0" dirty="0">
                <a:solidFill>
                  <a:srgbClr val="8B949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'],</a:t>
            </a:r>
            <a:endParaRPr lang="fr-FR" sz="21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1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1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props</a:t>
            </a:r>
            <a:r>
              <a:rPr lang="fr-FR" sz="21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  <a:endParaRPr lang="fr-FR" sz="21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</a:t>
            </a:r>
            <a:r>
              <a:rPr lang="fr-FR" sz="21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nomFruit</a:t>
            </a:r>
            <a:r>
              <a:rPr lang="fr-FR" sz="21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  <a:endParaRPr lang="fr-FR" sz="21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  </a:t>
            </a:r>
            <a:r>
              <a:rPr lang="fr-FR" sz="2100" b="0" dirty="0">
                <a:solidFill>
                  <a:srgbClr val="4EC9B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type</a:t>
            </a:r>
            <a:r>
              <a:rPr lang="fr-FR" sz="21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100" b="0" dirty="0">
                <a:solidFill>
                  <a:srgbClr val="4EC9B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String</a:t>
            </a:r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1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  </a:t>
            </a:r>
            <a:r>
              <a:rPr lang="fr-FR" sz="21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require</a:t>
            </a:r>
            <a:r>
              <a:rPr lang="fr-FR" sz="21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100" b="0" dirty="0" err="1">
                <a:solidFill>
                  <a:srgbClr val="569CD6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true</a:t>
            </a:r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1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  </a:t>
            </a:r>
            <a:r>
              <a:rPr lang="fr-FR" sz="2100" b="0" dirty="0" err="1">
                <a:solidFill>
                  <a:srgbClr val="D2A8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validator</a:t>
            </a:r>
            <a:r>
              <a:rPr lang="fr-FR" sz="21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100" b="0" dirty="0" err="1">
                <a:solidFill>
                  <a:srgbClr val="FF7B72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function</a:t>
            </a:r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(</a:t>
            </a:r>
            <a:r>
              <a:rPr lang="fr-FR" sz="21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value</a:t>
            </a:r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) {</a:t>
            </a:r>
            <a:endParaRPr lang="fr-FR" sz="21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    </a:t>
            </a:r>
            <a:r>
              <a:rPr lang="fr-FR" sz="21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if</a:t>
            </a:r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(</a:t>
            </a:r>
            <a:r>
              <a:rPr lang="fr-FR" sz="2100" b="0" dirty="0" err="1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value</a:t>
            </a:r>
            <a:r>
              <a:rPr lang="fr-FR" sz="21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.</a:t>
            </a:r>
            <a:r>
              <a:rPr lang="fr-FR" sz="2100" b="0" dirty="0" err="1">
                <a:solidFill>
                  <a:srgbClr val="79C0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length</a:t>
            </a:r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100" b="0" dirty="0">
                <a:solidFill>
                  <a:srgbClr val="D4D4D4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100" b="0" dirty="0">
                <a:solidFill>
                  <a:srgbClr val="B5CEA8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6</a:t>
            </a:r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) {</a:t>
            </a:r>
            <a:endParaRPr lang="fr-FR" sz="21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      </a:t>
            </a:r>
            <a:r>
              <a:rPr lang="fr-FR" sz="21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return</a:t>
            </a:r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100" b="0" dirty="0" err="1">
                <a:solidFill>
                  <a:srgbClr val="569CD6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true</a:t>
            </a:r>
            <a:endParaRPr lang="fr-FR" sz="21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    } </a:t>
            </a:r>
            <a:r>
              <a:rPr lang="fr-FR" sz="2100" b="0" dirty="0" err="1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else</a:t>
            </a:r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  <a:endParaRPr lang="fr-FR" sz="21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      </a:t>
            </a:r>
            <a:r>
              <a:rPr lang="fr-FR" sz="21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return</a:t>
            </a:r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100" b="0" dirty="0">
                <a:solidFill>
                  <a:srgbClr val="569CD6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false</a:t>
            </a:r>
            <a:endParaRPr lang="fr-FR" sz="21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    }</a:t>
            </a:r>
            <a:endParaRPr lang="fr-FR" sz="21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  },</a:t>
            </a:r>
            <a:endParaRPr lang="fr-FR" sz="21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},</a:t>
            </a:r>
            <a:endParaRPr lang="fr-FR" sz="21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</a:t>
            </a:r>
            <a:r>
              <a:rPr lang="fr-FR" sz="2100" b="0" dirty="0" err="1">
                <a:solidFill>
                  <a:srgbClr val="4EC9B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estSucre</a:t>
            </a:r>
            <a:r>
              <a:rPr lang="fr-FR" sz="21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100" b="0" dirty="0">
                <a:solidFill>
                  <a:srgbClr val="4EC9B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Boolean</a:t>
            </a:r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1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1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}</a:t>
            </a:r>
            <a:r>
              <a:rPr lang="fr-FR" sz="21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1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1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}</a:t>
            </a:r>
            <a:endParaRPr lang="fr-FR" sz="21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1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1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script</a:t>
            </a:r>
            <a:r>
              <a:rPr lang="fr-FR" sz="21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1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4C28E3A-DEA8-F73B-B21F-44EA7FFE9168}"/>
              </a:ext>
            </a:extLst>
          </p:cNvPr>
          <p:cNvSpPr txBox="1"/>
          <p:nvPr/>
        </p:nvSpPr>
        <p:spPr>
          <a:xfrm>
            <a:off x="6395356" y="2963068"/>
            <a:ext cx="5699761" cy="32778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23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3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template</a:t>
            </a:r>
            <a:r>
              <a:rPr lang="fr-FR" sz="23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3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3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3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3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h1</a:t>
            </a:r>
            <a:r>
              <a:rPr lang="fr-FR" sz="23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r>
              <a:rPr lang="fr-FR" sz="23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Fruit</a:t>
            </a:r>
            <a:r>
              <a:rPr lang="fr-FR" sz="23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3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h1</a:t>
            </a:r>
            <a:r>
              <a:rPr lang="fr-FR" sz="23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3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br>
              <a:rPr lang="fr-FR" sz="23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</a:br>
            <a:r>
              <a:rPr lang="fr-FR" sz="23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3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3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FruitItem</a:t>
            </a:r>
            <a:r>
              <a:rPr lang="fr-FR" sz="23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</a:p>
          <a:p>
            <a:r>
              <a:rPr lang="fr-FR" sz="2300" dirty="0">
                <a:solidFill>
                  <a:srgbClr val="BBBEBF"/>
                </a:solidFill>
                <a:highlight>
                  <a:srgbClr val="121314"/>
                </a:highlight>
                <a:latin typeface="Consolas" panose="020B0609020204030204" pitchFamily="49" charset="0"/>
              </a:rPr>
              <a:t>	</a:t>
            </a:r>
            <a:r>
              <a:rPr lang="fr-FR" sz="23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nomFruit</a:t>
            </a:r>
            <a:r>
              <a:rPr lang="fr-FR" sz="23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=</a:t>
            </a:r>
            <a:r>
              <a:rPr lang="fr-FR" sz="23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"pomme"</a:t>
            </a:r>
            <a:r>
              <a:rPr lang="fr-FR" sz="23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</a:p>
          <a:p>
            <a:r>
              <a:rPr lang="fr-FR" sz="2300" dirty="0">
                <a:solidFill>
                  <a:srgbClr val="BBBEBF"/>
                </a:solidFill>
                <a:highlight>
                  <a:srgbClr val="121314"/>
                </a:highlight>
                <a:latin typeface="Consolas" panose="020B0609020204030204" pitchFamily="49" charset="0"/>
              </a:rPr>
              <a:t>	</a:t>
            </a:r>
            <a:r>
              <a:rPr lang="fr-FR" sz="23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v-bind</a:t>
            </a:r>
            <a:r>
              <a:rPr lang="fr-FR" sz="2300" b="0" dirty="0" err="1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3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estSucre</a:t>
            </a:r>
            <a:r>
              <a:rPr lang="fr-FR" sz="23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="</a:t>
            </a:r>
            <a:r>
              <a:rPr lang="fr-FR" sz="2300" b="0" dirty="0" err="1">
                <a:solidFill>
                  <a:srgbClr val="569CD6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true</a:t>
            </a:r>
            <a:r>
              <a:rPr lang="fr-FR" sz="23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</a:t>
            </a:r>
            <a:r>
              <a:rPr lang="fr-FR" sz="23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/&gt;</a:t>
            </a:r>
            <a:endParaRPr lang="fr-FR" sz="23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3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3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3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FruitItem</a:t>
            </a:r>
            <a:r>
              <a:rPr lang="fr-FR" sz="23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</a:p>
          <a:p>
            <a:r>
              <a:rPr lang="fr-FR" sz="2300" dirty="0">
                <a:solidFill>
                  <a:srgbClr val="BBBEBF"/>
                </a:solidFill>
                <a:highlight>
                  <a:srgbClr val="121314"/>
                </a:highlight>
                <a:latin typeface="Consolas" panose="020B0609020204030204" pitchFamily="49" charset="0"/>
              </a:rPr>
              <a:t>	</a:t>
            </a:r>
            <a:r>
              <a:rPr lang="fr-FR" sz="23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nomFruit</a:t>
            </a:r>
            <a:r>
              <a:rPr lang="fr-FR" sz="23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=</a:t>
            </a:r>
            <a:r>
              <a:rPr lang="fr-FR" sz="23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"Pastèque"</a:t>
            </a:r>
            <a:r>
              <a:rPr lang="fr-FR" sz="23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/&gt;</a:t>
            </a:r>
            <a:endParaRPr lang="fr-FR" sz="23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3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3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template</a:t>
            </a:r>
            <a:r>
              <a:rPr lang="fr-FR" sz="23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3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FE2C52D-67AE-988A-4651-C27347C410B5}"/>
              </a:ext>
            </a:extLst>
          </p:cNvPr>
          <p:cNvSpPr txBox="1"/>
          <p:nvPr/>
        </p:nvSpPr>
        <p:spPr>
          <a:xfrm>
            <a:off x="348343" y="30999"/>
            <a:ext cx="3102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FruitItem.vue</a:t>
            </a:r>
            <a:endParaRPr lang="fr-FR" sz="20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3FEF626-02BF-EB73-A077-3E401B337D82}"/>
              </a:ext>
            </a:extLst>
          </p:cNvPr>
          <p:cNvSpPr txBox="1"/>
          <p:nvPr/>
        </p:nvSpPr>
        <p:spPr>
          <a:xfrm>
            <a:off x="6395356" y="2528643"/>
            <a:ext cx="3102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App.vue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257452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BA8C25-13F4-DBC3-8478-C1BC2826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Modification d’un </a:t>
            </a:r>
            <a:r>
              <a:rPr lang="fr-FR" dirty="0" err="1"/>
              <a:t>props</a:t>
            </a:r>
            <a:endParaRPr lang="fr-FR" dirty="0"/>
          </a:p>
        </p:txBody>
      </p:sp>
      <p:sp>
        <p:nvSpPr>
          <p:cNvPr id="3" name="Espace réservé du tableau 2">
            <a:extLst>
              <a:ext uri="{FF2B5EF4-FFF2-40B4-BE49-F238E27FC236}">
                <a16:creationId xmlns:a16="http://schemas.microsoft.com/office/drawing/2014/main" id="{8D8C01BE-D2EA-BE28-7B89-9199358DE3D9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54874" y="2487115"/>
            <a:ext cx="10972800" cy="3636740"/>
          </a:xfrm>
        </p:spPr>
        <p:txBody>
          <a:bodyPr/>
          <a:lstStyle/>
          <a:p>
            <a:r>
              <a:rPr lang="fr-F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Lorsqu'un composant est créé dans l'élément parent, il est impossible de modifier la valeur de la propriété reçue de l'élément enfant.</a:t>
            </a:r>
          </a:p>
          <a:p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 conséquent, à l'intérieur de l'élément enfant, 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FruiItem.vue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ne peut pas modifier la valeur de la propriété « 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estSucre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» qui lui est transmise 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App.vue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 de recherche : Proposez une solution avec un exemple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2B6D7A-B2EB-2289-30AC-7A2228B43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857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9146CD-45AD-F0E8-4915-B9DAEA6A3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17" y="0"/>
            <a:ext cx="10972800" cy="597068"/>
          </a:xfrm>
        </p:spPr>
        <p:txBody>
          <a:bodyPr/>
          <a:lstStyle/>
          <a:p>
            <a:r>
              <a:rPr lang="fr-FR" dirty="0"/>
              <a:t>Une solution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F26C1A6-3BC9-38C0-8283-F2167B1F02D4}"/>
              </a:ext>
            </a:extLst>
          </p:cNvPr>
          <p:cNvSpPr txBox="1"/>
          <p:nvPr/>
        </p:nvSpPr>
        <p:spPr>
          <a:xfrm>
            <a:off x="93617" y="1206576"/>
            <a:ext cx="5545183" cy="56323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template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div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h2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  {{ </a:t>
            </a:r>
            <a:r>
              <a:rPr lang="fr-FR" sz="20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foodName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}}</a:t>
            </a: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h2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p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{{ </a:t>
            </a:r>
            <a:r>
              <a:rPr lang="fr-FR" sz="20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foodDesc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}}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p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img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src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=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"https://upload.wikimedia.org/</a:t>
            </a:r>
            <a:r>
              <a:rPr lang="fr-FR" sz="2000" b="0" dirty="0" err="1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wikipedia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/</a:t>
            </a:r>
            <a:r>
              <a:rPr lang="fr-FR" sz="2000" b="0" dirty="0" err="1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commons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/1/15/Red_Apple.jpg"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  </a:t>
            </a:r>
            <a:r>
              <a:rPr lang="fr-FR" sz="20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alt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=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"Pomme"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  </a:t>
            </a:r>
            <a:r>
              <a:rPr lang="fr-FR" sz="20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width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=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"50"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  </a:t>
            </a:r>
            <a:r>
              <a:rPr lang="fr-FR" sz="20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v-show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="</a:t>
            </a:r>
            <a:r>
              <a:rPr lang="fr-FR" sz="20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foodIsFavorite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</a:t>
            </a: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/&gt;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button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v-on</a:t>
            </a:r>
            <a:r>
              <a:rPr lang="fr-FR" sz="2000" b="0" dirty="0" err="1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0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click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="</a:t>
            </a:r>
            <a:r>
              <a:rPr lang="fr-FR" sz="2000" b="0" dirty="0" err="1">
                <a:solidFill>
                  <a:srgbClr val="D2A8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toggleFavorite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Favorite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0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button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div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0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template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E7FFAD9-B23B-0C7E-282D-4596E8BBE0F4}"/>
              </a:ext>
            </a:extLst>
          </p:cNvPr>
          <p:cNvSpPr txBox="1"/>
          <p:nvPr/>
        </p:nvSpPr>
        <p:spPr>
          <a:xfrm>
            <a:off x="5758543" y="513402"/>
            <a:ext cx="6215743" cy="624786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script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export</a:t>
            </a:r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default</a:t>
            </a:r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0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props</a:t>
            </a:r>
            <a:r>
              <a:rPr lang="fr-FR" sz="20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[</a:t>
            </a:r>
          </a:p>
          <a:p>
            <a:r>
              <a:rPr lang="fr-FR" sz="2000" dirty="0">
                <a:solidFill>
                  <a:srgbClr val="C9D1D9"/>
                </a:solidFill>
                <a:highlight>
                  <a:srgbClr val="121314"/>
                </a:highlight>
                <a:latin typeface="Consolas" panose="020B0609020204030204" pitchFamily="49" charset="0"/>
              </a:rPr>
              <a:t>	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'</a:t>
            </a:r>
            <a:r>
              <a:rPr lang="fr-FR" sz="2000" b="0" dirty="0" err="1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foodName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’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 </a:t>
            </a:r>
          </a:p>
          <a:p>
            <a:r>
              <a:rPr lang="fr-FR" sz="2000" dirty="0">
                <a:solidFill>
                  <a:srgbClr val="C9D1D9"/>
                </a:solidFill>
                <a:highlight>
                  <a:srgbClr val="121314"/>
                </a:highlight>
                <a:latin typeface="Consolas" panose="020B0609020204030204" pitchFamily="49" charset="0"/>
              </a:rPr>
              <a:t>	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'</a:t>
            </a:r>
            <a:r>
              <a:rPr lang="fr-FR" sz="2000" b="0" dirty="0" err="1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foodDesc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’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 </a:t>
            </a:r>
          </a:p>
          <a:p>
            <a:r>
              <a:rPr lang="fr-FR" sz="2000" dirty="0">
                <a:solidFill>
                  <a:srgbClr val="C9D1D9"/>
                </a:solidFill>
                <a:highlight>
                  <a:srgbClr val="121314"/>
                </a:highlight>
                <a:latin typeface="Consolas" panose="020B0609020204030204" pitchFamily="49" charset="0"/>
              </a:rPr>
              <a:t>	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'</a:t>
            </a:r>
            <a:r>
              <a:rPr lang="fr-FR" sz="2000" b="0" dirty="0" err="1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isFavorite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’</a:t>
            </a:r>
          </a:p>
          <a:p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 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]</a:t>
            </a:r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000" b="0" dirty="0">
                <a:solidFill>
                  <a:srgbClr val="D2A8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data</a:t>
            </a:r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() 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{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return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  </a:t>
            </a:r>
            <a:r>
              <a:rPr lang="fr-FR" sz="20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foodIsFavorite</a:t>
            </a:r>
            <a:r>
              <a:rPr lang="fr-FR" sz="20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 err="1">
                <a:solidFill>
                  <a:srgbClr val="79C0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this</a:t>
            </a:r>
            <a:r>
              <a:rPr lang="fr-FR" sz="20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.isFavorite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}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}</a:t>
            </a:r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0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methods</a:t>
            </a:r>
            <a:r>
              <a:rPr lang="fr-FR" sz="20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</a:t>
            </a:r>
            <a:r>
              <a:rPr lang="fr-FR" sz="2000" b="0" dirty="0" err="1">
                <a:solidFill>
                  <a:srgbClr val="D2A8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toggleFavorite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() {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  </a:t>
            </a:r>
            <a:r>
              <a:rPr lang="fr-FR" sz="2000" b="0" dirty="0" err="1">
                <a:solidFill>
                  <a:srgbClr val="79C0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this</a:t>
            </a:r>
            <a:r>
              <a:rPr lang="fr-FR" sz="20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.foodIsFavorite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D4D4D4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=</a:t>
            </a:r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D4D4D4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!</a:t>
            </a:r>
            <a:r>
              <a:rPr lang="fr-FR" sz="2000" b="0" dirty="0" err="1">
                <a:solidFill>
                  <a:srgbClr val="79C0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this</a:t>
            </a:r>
            <a:r>
              <a:rPr lang="fr-FR" sz="20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.foodIsFavorite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},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}</a:t>
            </a:r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FFA65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}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script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3B78047-B852-750A-BE2B-09BCB177E731}"/>
              </a:ext>
            </a:extLst>
          </p:cNvPr>
          <p:cNvSpPr txBox="1"/>
          <p:nvPr/>
        </p:nvSpPr>
        <p:spPr>
          <a:xfrm>
            <a:off x="217714" y="709994"/>
            <a:ext cx="3102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FruitItem.vue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96842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6B6B2C0C-7D57-4A9C-86FF-67E0EB8ABDBD}"/>
              </a:ext>
            </a:extLst>
          </p:cNvPr>
          <p:cNvSpPr txBox="1"/>
          <p:nvPr/>
        </p:nvSpPr>
        <p:spPr>
          <a:xfrm>
            <a:off x="217713" y="73921"/>
            <a:ext cx="11843657" cy="31700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script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setup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import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 err="1">
                <a:solidFill>
                  <a:srgbClr val="C9D1D9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FruitItem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 err="1">
                <a:solidFill>
                  <a:srgbClr val="C586C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from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'./components/</a:t>
            </a:r>
            <a:r>
              <a:rPr lang="fr-FR" sz="2000" b="0" dirty="0" err="1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FruitItem.vue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'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script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template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h1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Nourriture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h1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div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id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=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</a:t>
            </a:r>
            <a:r>
              <a:rPr lang="fr-FR" sz="2000" b="0" dirty="0" err="1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wrapper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FruitItem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food-name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=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"Pomme"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food-desc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=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"Pomme"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v-bind</a:t>
            </a:r>
            <a:r>
              <a:rPr lang="fr-FR" sz="2000" b="0" dirty="0" err="1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0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is-favorite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="</a:t>
            </a:r>
            <a:r>
              <a:rPr lang="fr-FR" sz="2000" b="0" dirty="0" err="1">
                <a:solidFill>
                  <a:srgbClr val="569CD6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true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/&gt;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20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FruitItem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food-name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=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"Banane"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food-desc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=</a:t>
            </a:r>
            <a:r>
              <a:rPr lang="fr-FR" sz="2000" b="0" dirty="0">
                <a:solidFill>
                  <a:srgbClr val="A5D6F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"Banane "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20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v-bind</a:t>
            </a:r>
            <a:r>
              <a:rPr lang="fr-FR" sz="2000" b="0" dirty="0" err="1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</a:t>
            </a:r>
            <a:r>
              <a:rPr lang="fr-FR" sz="20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is-favorite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="</a:t>
            </a:r>
            <a:r>
              <a:rPr lang="fr-FR" sz="2000" b="0" dirty="0">
                <a:solidFill>
                  <a:srgbClr val="569CD6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false</a:t>
            </a:r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"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/&gt;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div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2000" b="0" dirty="0" err="1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template</a:t>
            </a:r>
            <a:r>
              <a:rPr lang="fr-FR" sz="20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9BCEA06-C612-22D7-CF80-219ABAB95E53}"/>
              </a:ext>
            </a:extLst>
          </p:cNvPr>
          <p:cNvSpPr txBox="1"/>
          <p:nvPr/>
        </p:nvSpPr>
        <p:spPr>
          <a:xfrm>
            <a:off x="206827" y="3244017"/>
            <a:ext cx="11843657" cy="369331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18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</a:t>
            </a:r>
            <a:r>
              <a:rPr lang="fr-FR" sz="18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style</a:t>
            </a:r>
            <a:r>
              <a:rPr lang="fr-FR" sz="18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18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D7BA7D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#wrapper</a:t>
            </a:r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18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display</a:t>
            </a:r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 </a:t>
            </a:r>
            <a:r>
              <a:rPr lang="fr-FR" sz="1800" b="0" dirty="0" err="1">
                <a:solidFill>
                  <a:srgbClr val="CE9178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flex</a:t>
            </a:r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18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flex</a:t>
            </a:r>
            <a:r>
              <a:rPr lang="fr-FR" sz="18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-wrap</a:t>
            </a:r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 </a:t>
            </a:r>
            <a:r>
              <a:rPr lang="fr-FR" sz="1800" b="0" dirty="0">
                <a:solidFill>
                  <a:srgbClr val="CE9178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wrap</a:t>
            </a:r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fr-FR" sz="1800" b="0" dirty="0">
                <a:solidFill>
                  <a:srgbClr val="D7BA7D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#wrapper</a:t>
            </a:r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D4D4D4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D7BA7D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div</a:t>
            </a:r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18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border</a:t>
            </a:r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 </a:t>
            </a:r>
            <a:r>
              <a:rPr lang="fr-FR" sz="1800" b="0" dirty="0" err="1">
                <a:solidFill>
                  <a:srgbClr val="CE9178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dashed</a:t>
            </a:r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CE9178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black</a:t>
            </a:r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B5CEA8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1px</a:t>
            </a:r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18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flex</a:t>
            </a:r>
            <a:r>
              <a:rPr lang="fr-FR" sz="18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-basis</a:t>
            </a:r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 </a:t>
            </a:r>
            <a:r>
              <a:rPr lang="fr-FR" sz="1800" b="0" dirty="0">
                <a:solidFill>
                  <a:srgbClr val="B5CEA8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120px</a:t>
            </a:r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18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margin</a:t>
            </a:r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 </a:t>
            </a:r>
            <a:r>
              <a:rPr lang="fr-FR" sz="1800" b="0" dirty="0">
                <a:solidFill>
                  <a:srgbClr val="B5CEA8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10px</a:t>
            </a:r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18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padding</a:t>
            </a:r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 </a:t>
            </a:r>
            <a:r>
              <a:rPr lang="fr-FR" sz="1800" b="0" dirty="0">
                <a:solidFill>
                  <a:srgbClr val="B5CEA8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10px</a:t>
            </a:r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  </a:t>
            </a:r>
            <a:r>
              <a:rPr lang="fr-FR" sz="1800" b="0" dirty="0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background-</a:t>
            </a:r>
            <a:r>
              <a:rPr lang="fr-FR" sz="1800" b="0" dirty="0" err="1">
                <a:solidFill>
                  <a:srgbClr val="9CDCFE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color</a:t>
            </a:r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: </a:t>
            </a:r>
            <a:r>
              <a:rPr lang="fr-FR" sz="1800" b="0" dirty="0" err="1">
                <a:solidFill>
                  <a:srgbClr val="DCDCAA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rgb</a:t>
            </a:r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(</a:t>
            </a:r>
            <a:r>
              <a:rPr lang="fr-FR" sz="1800" b="0" dirty="0">
                <a:solidFill>
                  <a:srgbClr val="B5CEA8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144</a:t>
            </a:r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 </a:t>
            </a:r>
            <a:r>
              <a:rPr lang="fr-FR" sz="1800" b="0" dirty="0">
                <a:solidFill>
                  <a:srgbClr val="B5CEA8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202</a:t>
            </a:r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, </a:t>
            </a:r>
            <a:r>
              <a:rPr lang="fr-FR" sz="1800" b="0" dirty="0">
                <a:solidFill>
                  <a:srgbClr val="B5CEA8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238</a:t>
            </a:r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fr-FR" sz="1800" b="0" dirty="0">
                <a:solidFill>
                  <a:srgbClr val="BBBEBF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fr-FR" sz="18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&lt;/</a:t>
            </a:r>
            <a:r>
              <a:rPr lang="fr-FR" sz="1800" b="0" dirty="0">
                <a:solidFill>
                  <a:srgbClr val="7EE787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style</a:t>
            </a:r>
            <a:r>
              <a:rPr lang="fr-FR" sz="1800" b="0" dirty="0">
                <a:solidFill>
                  <a:srgbClr val="808080"/>
                </a:solidFill>
                <a:effectLst/>
                <a:highlight>
                  <a:srgbClr val="121314"/>
                </a:highlight>
                <a:latin typeface="Consolas" panose="020B0609020204030204" pitchFamily="49" charset="0"/>
              </a:rPr>
              <a:t>&gt;</a:t>
            </a:r>
            <a:endParaRPr lang="fr-FR" sz="1800" b="0" dirty="0">
              <a:solidFill>
                <a:srgbClr val="BBBEBF"/>
              </a:solidFill>
              <a:effectLst/>
              <a:highlight>
                <a:srgbClr val="121314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895324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2_TF78853419_Win32" id="{E939D1AD-245E-4113-B88E-E20D599B2C52}" vid="{B269D645-ADA9-4C84-B6E4-2BDC65D07C9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purl.org/dc/terms/"/>
    <ds:schemaRef ds:uri="http://schemas.microsoft.com/sharepoint/v3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71af3243-3dd4-4a8d-8c0d-dd76da1f02a5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office/2006/metadata/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{02C4E203-5FED-40E2-89CF-94583315DDB4}TFd3b75063-ff25-434d-b12c-efeaf07d16c3843f2ce2_win32-4817930b7c4d</Template>
  <TotalTime>1752</TotalTime>
  <Words>1659</Words>
  <Application>Microsoft Office PowerPoint</Application>
  <PresentationFormat>Grand écran</PresentationFormat>
  <Paragraphs>289</Paragraphs>
  <Slides>18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8" baseType="lpstr">
      <vt:lpstr>Arial</vt:lpstr>
      <vt:lpstr>Calibri</vt:lpstr>
      <vt:lpstr>Consolas</vt:lpstr>
      <vt:lpstr>Franklin Gothic Book</vt:lpstr>
      <vt:lpstr>Franklin Gothic Demi</vt:lpstr>
      <vt:lpstr>Inter</vt:lpstr>
      <vt:lpstr>Segoe UI</vt:lpstr>
      <vt:lpstr>Times New Roman</vt:lpstr>
      <vt:lpstr>Wingdings</vt:lpstr>
      <vt:lpstr>Personnalisé</vt:lpstr>
      <vt:lpstr>Chapitre 11 : Notion sur les composants et les props</vt:lpstr>
      <vt:lpstr>SFC</vt:lpstr>
      <vt:lpstr>Notre première page SFC</vt:lpstr>
      <vt:lpstr>Les composants Vue (Component)</vt:lpstr>
      <vt:lpstr>Création d’un composant</vt:lpstr>
      <vt:lpstr>Ajout du premier composant </vt:lpstr>
      <vt:lpstr>Composants et évènementss</vt:lpstr>
      <vt:lpstr>Props</vt:lpstr>
      <vt:lpstr>Interface Props</vt:lpstr>
      <vt:lpstr>Props en tant qu’objet</vt:lpstr>
      <vt:lpstr>Présentation PowerPoint</vt:lpstr>
      <vt:lpstr>Props requis</vt:lpstr>
      <vt:lpstr>Props par défaut</vt:lpstr>
      <vt:lpstr>Fonction de validation de props</vt:lpstr>
      <vt:lpstr>Présentation PowerPoint</vt:lpstr>
      <vt:lpstr>Modification d’un props</vt:lpstr>
      <vt:lpstr>Une solution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1 : Introduction au développement Web Full-Stack</dc:title>
  <dc:creator>Rija Jules</dc:creator>
  <cp:lastModifiedBy>Rija Jules</cp:lastModifiedBy>
  <cp:revision>192</cp:revision>
  <dcterms:created xsi:type="dcterms:W3CDTF">2026-01-03T11:50:06Z</dcterms:created>
  <dcterms:modified xsi:type="dcterms:W3CDTF">2026-07-30T04:14:31Z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