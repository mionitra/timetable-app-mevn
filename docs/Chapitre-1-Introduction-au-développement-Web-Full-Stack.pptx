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0" r:id="rId15"/>
    <p:sldId id="421" r:id="rId16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7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08/01/2026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08/01/2026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98800" y="1116766"/>
            <a:ext cx="8615680" cy="284480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lnSpc>
                <a:spcPct val="100000"/>
              </a:lnSpc>
            </a:pP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Chapitre 1 :</a:t>
            </a:r>
            <a:br>
              <a:rPr lang="fr-FR" sz="4800" dirty="0"/>
            </a:br>
            <a:r>
              <a:rPr lang="fr-FR" sz="4800" b="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 au développement Web Full-Stack</a:t>
            </a:r>
            <a:br>
              <a:rPr lang="fr-FR" sz="4800" b="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fr-FR" sz="4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Licence </a:t>
            </a:r>
            <a:r>
              <a:rPr lang="fr-FR" sz="4800" b="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AD0B45C-24F7-FCC9-9ED3-571C0676D877}"/>
              </a:ext>
            </a:extLst>
          </p:cNvPr>
          <p:cNvSpPr txBox="1"/>
          <p:nvPr/>
        </p:nvSpPr>
        <p:spPr>
          <a:xfrm>
            <a:off x="3241040" y="4145280"/>
            <a:ext cx="7081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Madame FANOMEZANA </a:t>
            </a:r>
            <a:r>
              <a:rPr lang="fr-FR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Mihajasoa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Léa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2026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D91977-633A-8FB1-9B59-472608634FC0}"/>
              </a:ext>
            </a:extLst>
          </p:cNvPr>
          <p:cNvSpPr txBox="1"/>
          <p:nvPr/>
        </p:nvSpPr>
        <p:spPr>
          <a:xfrm>
            <a:off x="3098800" y="8770"/>
            <a:ext cx="42773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MEVN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Objectifs du chapitre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9"/>
            <a:ext cx="6788150" cy="3113722"/>
          </a:xfrm>
        </p:spPr>
        <p:txBody>
          <a:bodyPr tIns="457200"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>
                <a:solidFill>
                  <a:schemeClr val="bg1"/>
                </a:solidFill>
              </a:rPr>
              <a:t>Comprendre une architecture Web</a:t>
            </a:r>
          </a:p>
          <a:p>
            <a:pPr rtl="0"/>
            <a:r>
              <a:rPr lang="fr-FR" dirty="0">
                <a:solidFill>
                  <a:schemeClr val="bg1"/>
                </a:solidFill>
              </a:rPr>
              <a:t>Expliquer le concept de Full-Stack</a:t>
            </a:r>
          </a:p>
          <a:p>
            <a:pPr rtl="0"/>
            <a:r>
              <a:rPr lang="fr-FR" dirty="0">
                <a:solidFill>
                  <a:schemeClr val="bg1"/>
                </a:solidFill>
              </a:rPr>
              <a:t>Identifier les composants de la stack MEVN</a:t>
            </a:r>
          </a:p>
          <a:p>
            <a:pPr rtl="0"/>
            <a:r>
              <a:rPr lang="fr-FR" dirty="0">
                <a:solidFill>
                  <a:schemeClr val="bg1"/>
                </a:solidFill>
              </a:rPr>
              <a:t>Situer MEVN parmi les autres stacks Web modernes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4824C853-8B68-9DCB-7502-B6004F7C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338" y="1127760"/>
            <a:ext cx="10863801" cy="695960"/>
          </a:xfrm>
        </p:spPr>
        <p:txBody>
          <a:bodyPr/>
          <a:lstStyle/>
          <a:p>
            <a:r>
              <a:rPr lang="fr-FR" dirty="0"/>
              <a:t>Qu’est-ce qu’une application Web 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D40CB9CC-4DEF-963F-9D3E-CC1A32FB10F6}"/>
              </a:ext>
            </a:extLst>
          </p:cNvPr>
          <p:cNvSpPr txBox="1">
            <a:spLocks/>
          </p:cNvSpPr>
          <p:nvPr/>
        </p:nvSpPr>
        <p:spPr>
          <a:xfrm>
            <a:off x="619760" y="2326641"/>
            <a:ext cx="11104880" cy="4358640"/>
          </a:xfrm>
          <a:prstGeom prst="rect">
            <a:avLst/>
          </a:prstGeom>
          <a:solidFill>
            <a:schemeClr val="tx1"/>
          </a:solidFill>
        </p:spPr>
        <p:txBody>
          <a:bodyPr>
            <a:noAutofit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Une application Web est :</a:t>
            </a:r>
          </a:p>
          <a:p>
            <a:pPr lvl="1">
              <a:spcBef>
                <a:spcPts val="0"/>
              </a:spcBef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Un logiciel accessible via un navigateur</a:t>
            </a:r>
          </a:p>
          <a:p>
            <a:pPr lvl="1">
              <a:spcBef>
                <a:spcPts val="0"/>
              </a:spcBef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Fonctionnant selon une architecture client / serveur</a:t>
            </a:r>
          </a:p>
          <a:p>
            <a:pPr lvl="1">
              <a:spcBef>
                <a:spcPts val="0"/>
              </a:spcBef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Reposant sur des technologies Web standard</a:t>
            </a:r>
          </a:p>
          <a:p>
            <a:pPr>
              <a:spcBef>
                <a:spcPts val="0"/>
              </a:spcBef>
            </a:pPr>
            <a:endParaRPr lang="fr-FR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Exemples :</a:t>
            </a:r>
          </a:p>
          <a:p>
            <a:pPr lvl="1">
              <a:spcBef>
                <a:spcPts val="0"/>
              </a:spcBef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Plateforme e-commerce</a:t>
            </a:r>
          </a:p>
          <a:p>
            <a:pPr lvl="1">
              <a:spcBef>
                <a:spcPts val="0"/>
              </a:spcBef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 gestion universitaire</a:t>
            </a:r>
          </a:p>
          <a:p>
            <a:pPr lvl="1">
              <a:spcBef>
                <a:spcPts val="0"/>
              </a:spcBef>
            </a:pPr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Réseau social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0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FFECB0-DD9A-1F78-7EB7-12F8137B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Web classique (Client / Serveur)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027458DB-164E-AD1B-6CFE-3CE112B238D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740389"/>
            <a:ext cx="5034280" cy="2370091"/>
          </a:xfrm>
        </p:spPr>
        <p:txBody>
          <a:bodyPr/>
          <a:lstStyle/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(Frontend)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utilisateur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Navigateur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3DF429-810A-D478-01AA-7BCED7F7BEA7}"/>
              </a:ext>
            </a:extLst>
          </p:cNvPr>
          <p:cNvSpPr txBox="1"/>
          <p:nvPr/>
        </p:nvSpPr>
        <p:spPr>
          <a:xfrm>
            <a:off x="6096000" y="2740389"/>
            <a:ext cx="57505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Serveur (Backend)</a:t>
            </a:r>
            <a:endParaRPr lang="fr-F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Logique métier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 aux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Sécurité et authentification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D95362-C845-545C-9B08-4F7A5BC1F8B6}"/>
              </a:ext>
            </a:extLst>
          </p:cNvPr>
          <p:cNvSpPr txBox="1"/>
          <p:nvPr/>
        </p:nvSpPr>
        <p:spPr>
          <a:xfrm>
            <a:off x="2519680" y="5444652"/>
            <a:ext cx="7335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via le protocole </a:t>
            </a:r>
            <a:r>
              <a:rPr lang="it-I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HTTP/HTTPS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364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4AD483-60C9-3E7C-AE77-07C2A2A03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Notion de Full-Stack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A13B507D-53FE-8132-0B04-E47A6269E47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751851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Un développeur </a:t>
            </a:r>
            <a:r>
              <a:rPr lang="fr-FR" b="1" dirty="0"/>
              <a:t>Full-Stack</a:t>
            </a:r>
            <a:r>
              <a:rPr lang="fr-FR" dirty="0"/>
              <a:t> est capable de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Développer le </a:t>
            </a:r>
            <a:r>
              <a:rPr lang="fr-FR" b="1" dirty="0"/>
              <a:t>Frontend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Développer le </a:t>
            </a:r>
            <a:r>
              <a:rPr lang="fr-FR" b="1" dirty="0"/>
              <a:t>Backend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Gérer la </a:t>
            </a:r>
            <a:r>
              <a:rPr lang="fr-FR" b="1" dirty="0"/>
              <a:t>base de données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Comprendre l’architecture globale du système</a:t>
            </a:r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b="1" dirty="0"/>
              <a:t>Une application Full-Stack = Frontend + Backend + 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364811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C4C495-3F5A-7896-44EC-025DC1658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599440"/>
            <a:ext cx="10972800" cy="787205"/>
          </a:xfrm>
        </p:spPr>
        <p:txBody>
          <a:bodyPr/>
          <a:lstStyle/>
          <a:p>
            <a:r>
              <a:rPr lang="fr-FR" dirty="0"/>
              <a:t>Pourquoi JavaScript Full-Stack ?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91E93D15-A8AE-75DA-C27F-D903AE163BE7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02920" y="2313668"/>
            <a:ext cx="11064240" cy="440209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est utilisé :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client (navigateur)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serveur (Node.js)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base de données (MongoDB)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Avantages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seul langage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Partage de code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Grande communauté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Écosystème riche (beaucoup d’outils, de bibliothèques, de frameworks, de ressources et de communautés autour de ce langage)</a:t>
            </a:r>
          </a:p>
        </p:txBody>
      </p:sp>
    </p:spTree>
    <p:extLst>
      <p:ext uri="{BB962C8B-B14F-4D97-AF65-F5344CB8AC3E}">
        <p14:creationId xmlns:p14="http://schemas.microsoft.com/office/powerpoint/2010/main" val="2220662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3C4E98-FDB7-F560-4181-48CBD92E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la stack MEVN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4A224D02-4B4B-961C-A427-0429DAE63A8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537189"/>
            <a:ext cx="10972800" cy="363674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MEVN</a:t>
            </a:r>
            <a:r>
              <a:rPr lang="fr-FR" dirty="0"/>
              <a:t> signifie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M</a:t>
            </a:r>
            <a:r>
              <a:rPr lang="fr-FR" dirty="0"/>
              <a:t> : MongoDB (Base de données)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E</a:t>
            </a:r>
            <a:r>
              <a:rPr lang="fr-FR" dirty="0"/>
              <a:t> : Express.js (Framework Backend)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V</a:t>
            </a:r>
            <a:r>
              <a:rPr lang="fr-FR" dirty="0"/>
              <a:t> : Vue.js (Framework Frontend)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b="1" dirty="0"/>
              <a:t>N</a:t>
            </a:r>
            <a:r>
              <a:rPr lang="fr-FR" dirty="0"/>
              <a:t> : Node.js (Environnement serveur)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Stack JavaScript Full-Stack moderne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06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477E4F-1A09-401E-8CB8-E412676D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Rôle de chaque composant MEVN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FDFF05AB-A417-3693-9BBE-0AC1294E74D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722881"/>
            <a:ext cx="10972800" cy="2159196"/>
          </a:xfrm>
        </p:spPr>
        <p:txBody>
          <a:bodyPr/>
          <a:lstStyle/>
          <a:p>
            <a:r>
              <a:rPr lang="fr-FR" dirty="0"/>
              <a:t>MongoDB : Stockage des données (NoSQL)</a:t>
            </a:r>
          </a:p>
          <a:p>
            <a:r>
              <a:rPr lang="fr-FR" dirty="0"/>
              <a:t>Express.js : Création d’API REST</a:t>
            </a:r>
          </a:p>
          <a:p>
            <a:r>
              <a:rPr lang="fr-FR" dirty="0"/>
              <a:t>Vue.js : Interface utilisateur dynamique</a:t>
            </a:r>
          </a:p>
          <a:p>
            <a:r>
              <a:rPr lang="fr-FR" dirty="0"/>
              <a:t>Node.js : Exécution du code JavaScript côté serveur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356300-BDD4-492F-CCB1-D77F228E7BD5}"/>
              </a:ext>
            </a:extLst>
          </p:cNvPr>
          <p:cNvSpPr txBox="1"/>
          <p:nvPr/>
        </p:nvSpPr>
        <p:spPr>
          <a:xfrm>
            <a:off x="594360" y="5215374"/>
            <a:ext cx="8575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Chaque composant a une responsabilité claire</a:t>
            </a:r>
          </a:p>
        </p:txBody>
      </p:sp>
    </p:spTree>
    <p:extLst>
      <p:ext uri="{BB962C8B-B14F-4D97-AF65-F5344CB8AC3E}">
        <p14:creationId xmlns:p14="http://schemas.microsoft.com/office/powerpoint/2010/main" val="400016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apture d’écran, conception">
            <a:extLst>
              <a:ext uri="{FF2B5EF4-FFF2-40B4-BE49-F238E27FC236}">
                <a16:creationId xmlns:a16="http://schemas.microsoft.com/office/drawing/2014/main" id="{FFF31EE7-54E4-DB2D-0D04-5269F03B94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b="20592"/>
          <a:stretch/>
        </p:blipFill>
        <p:spPr>
          <a:xfrm>
            <a:off x="0" y="314960"/>
            <a:ext cx="12192000" cy="582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93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17B72-DD02-69DF-9062-92BBD4AA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MEVN et architecture REST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D0905D33-CD70-4DA5-79B7-563FC88525E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70840" y="2354309"/>
            <a:ext cx="10972800" cy="376201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basée sur HTTP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des méthodes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Récupérer (lire) des données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Créer une nouvelle ressource sur le serveur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Modifier (mettre à jour) une ressource existante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Suppression de données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échangées en JSON</a:t>
            </a:r>
          </a:p>
        </p:txBody>
      </p:sp>
    </p:spTree>
    <p:extLst>
      <p:ext uri="{BB962C8B-B14F-4D97-AF65-F5344CB8AC3E}">
        <p14:creationId xmlns:p14="http://schemas.microsoft.com/office/powerpoint/2010/main" val="165771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92E9EE-6BAD-B42E-AE1C-F01E524A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avec d’autres stacks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AFBCCD9-C0CC-8965-2CDD-104441BA7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615767"/>
              </p:ext>
            </p:extLst>
          </p:nvPr>
        </p:nvGraphicFramePr>
        <p:xfrm>
          <a:off x="594360" y="2934546"/>
          <a:ext cx="11089640" cy="335449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772410">
                  <a:extLst>
                    <a:ext uri="{9D8B030D-6E8A-4147-A177-3AD203B41FA5}">
                      <a16:colId xmlns:a16="http://schemas.microsoft.com/office/drawing/2014/main" val="711557933"/>
                    </a:ext>
                  </a:extLst>
                </a:gridCol>
                <a:gridCol w="2772410">
                  <a:extLst>
                    <a:ext uri="{9D8B030D-6E8A-4147-A177-3AD203B41FA5}">
                      <a16:colId xmlns:a16="http://schemas.microsoft.com/office/drawing/2014/main" val="791227711"/>
                    </a:ext>
                  </a:extLst>
                </a:gridCol>
                <a:gridCol w="2772410">
                  <a:extLst>
                    <a:ext uri="{9D8B030D-6E8A-4147-A177-3AD203B41FA5}">
                      <a16:colId xmlns:a16="http://schemas.microsoft.com/office/drawing/2014/main" val="311058158"/>
                    </a:ext>
                  </a:extLst>
                </a:gridCol>
                <a:gridCol w="2772410">
                  <a:extLst>
                    <a:ext uri="{9D8B030D-6E8A-4147-A177-3AD203B41FA5}">
                      <a16:colId xmlns:a16="http://schemas.microsoft.com/office/drawing/2014/main" val="3029524995"/>
                    </a:ext>
                  </a:extLst>
                </a:gridCol>
              </a:tblGrid>
              <a:tr h="838623"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bg1"/>
                          </a:solidFill>
                        </a:rPr>
                        <a:t>BD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450378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MEVN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Vue.js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Express /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423746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r>
                        <a:rPr lang="fr-FR" sz="2400"/>
                        <a:t>MERN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 err="1"/>
                        <a:t>React</a:t>
                      </a:r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Express /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/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629934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bg1"/>
                          </a:solidFill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 err="1"/>
                        <a:t>Angular</a:t>
                      </a:r>
                      <a:endParaRPr lang="fr-FR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solidFill>
                            <a:schemeClr val="bg1"/>
                          </a:solidFill>
                        </a:rPr>
                        <a:t>Express / Node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solidFill>
                            <a:schemeClr val="bg1"/>
                          </a:solidFill>
                        </a:rPr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2079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790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70C398-B2DA-1F8B-5ED4-EBB9737D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 du chapitre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BC3736-3D02-47B4-7536-6F3E5563C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" y="2462744"/>
            <a:ext cx="10810240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 Web moderne est Full-Stack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JavaScript est au cœur des applications modernes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MEVN est un stack complet et cohérent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Prochain chapitre : </a:t>
            </a:r>
            <a:r>
              <a:rPr kumimoji="0" lang="fr-FR" altLang="fr-FR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JavaScript moderne (ES6+)</a:t>
            </a:r>
            <a:endParaRPr kumimoji="0" lang="fr-FR" altLang="fr-FR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08574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{02C4E203-5FED-40E2-89CF-94583315DDB4}TFd3b75063-ff25-434d-b12c-efeaf07d16c3843f2ce2_win32-4817930b7c4d</Template>
  <TotalTime>55</TotalTime>
  <Words>422</Words>
  <Application>Microsoft Office PowerPoint</Application>
  <PresentationFormat>Grand écran</PresentationFormat>
  <Paragraphs>93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Times New Roman</vt:lpstr>
      <vt:lpstr>Personnalisé</vt:lpstr>
      <vt:lpstr>Chapitre 1 : Introduction au développement Web Full-Stack Licence 3</vt:lpstr>
      <vt:lpstr>Objectifs du chapitre</vt:lpstr>
      <vt:lpstr>Qu’est-ce qu’une application Web </vt:lpstr>
      <vt:lpstr>Architecture Web classique (Client / Serveur)</vt:lpstr>
      <vt:lpstr>Notion de Full-Stack</vt:lpstr>
      <vt:lpstr>Pourquoi JavaScript Full-Stack ?</vt:lpstr>
      <vt:lpstr>Présentation de la stack MEVN</vt:lpstr>
      <vt:lpstr>Rôle de chaque composant MEVN</vt:lpstr>
      <vt:lpstr>Présentation PowerPoint</vt:lpstr>
      <vt:lpstr>MEVN et architecture REST</vt:lpstr>
      <vt:lpstr>Comparaison avec d’autres stacks</vt:lpstr>
      <vt:lpstr>Conclusion du chapitre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1 : Introduction au développement Web Full-Stack</dc:title>
  <dc:creator>Rija Jules</dc:creator>
  <cp:lastModifiedBy>Rija Jules</cp:lastModifiedBy>
  <cp:revision>20</cp:revision>
  <dcterms:created xsi:type="dcterms:W3CDTF">2026-01-03T11:50:06Z</dcterms:created>
  <dcterms:modified xsi:type="dcterms:W3CDTF">2026-01-08T13:01:49Z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